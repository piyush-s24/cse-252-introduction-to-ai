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91" r:id="rId3"/>
    <p:sldId id="257" r:id="rId4"/>
    <p:sldId id="292" r:id="rId5"/>
    <p:sldId id="289" r:id="rId6"/>
    <p:sldId id="258" r:id="rId7"/>
    <p:sldId id="259" r:id="rId8"/>
    <p:sldId id="260" r:id="rId9"/>
    <p:sldId id="283" r:id="rId10"/>
    <p:sldId id="261" r:id="rId11"/>
    <p:sldId id="284" r:id="rId12"/>
    <p:sldId id="262" r:id="rId13"/>
    <p:sldId id="263" r:id="rId14"/>
    <p:sldId id="285" r:id="rId15"/>
    <p:sldId id="264" r:id="rId16"/>
    <p:sldId id="286" r:id="rId17"/>
    <p:sldId id="265" r:id="rId18"/>
    <p:sldId id="266" r:id="rId19"/>
    <p:sldId id="267" r:id="rId20"/>
    <p:sldId id="268" r:id="rId21"/>
    <p:sldId id="269" r:id="rId22"/>
    <p:sldId id="287" r:id="rId23"/>
    <p:sldId id="270" r:id="rId24"/>
    <p:sldId id="288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90" r:id="rId34"/>
    <p:sldId id="280" r:id="rId35"/>
    <p:sldId id="293" r:id="rId36"/>
    <p:sldId id="294" r:id="rId37"/>
    <p:sldId id="28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73645" autoAdjust="0"/>
  </p:normalViewPr>
  <p:slideViewPr>
    <p:cSldViewPr snapToGrid="0">
      <p:cViewPr varScale="1">
        <p:scale>
          <a:sx n="52" d="100"/>
          <a:sy n="52" d="100"/>
        </p:scale>
        <p:origin x="14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C2B38-6B8B-8144-9502-D52FD278097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226FD-0AA1-C14C-A7A7-3D3E3FAE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2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4493-2CA9-8571-4937-E45C2294E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1036C-6384-5668-A896-8F559C66D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52FCC-C458-4578-09B1-A7F96EF6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8DFC3-F3A1-B8C9-8624-B917C1EA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230D-3CC0-26B9-4D66-CFD85F08D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8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FAAA-C090-FF11-A066-5D037A73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08CB-F94A-8780-3C82-AD1340EEB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06A8-829A-BE65-08EE-2D7F3F9BD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3E45F-FB75-B34E-27F0-544E92E35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04ED-1139-D1C8-97B4-6A9FB8A3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0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4447-F8E8-EC31-5553-D60623A55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9DCF8-A867-D420-A672-6C959A5DE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EFED3-BE17-9E41-ED8D-B9B42ACD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AFFA2-5A46-EBEA-9E9A-D8C485AF4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DA7B3-BE26-7D7E-8473-2FB857A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4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8B39-26AC-466A-D6B5-461E03BF3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B1A01-4126-5D51-BEDC-E4D44A01C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DED90-651B-4EDC-1F5A-BEFE59B6F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CB8B3-05BB-BAF6-00B6-CD97987C7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D950-7D44-86BB-087A-5209FF3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7ED68-4DC4-1CD3-45DD-44AB832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0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579F-E9B9-4FB3-079C-AC0EE8F9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608D8-61E9-0EC2-1135-4E5AB3694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A57A8-1B67-3DEF-41A5-D689D0D4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2DF143-0F17-FE98-282E-1935E343A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70667-B2E8-5A38-38FA-A6706EAF2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505CCF-F585-0F17-DABE-05E4FF79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47FE8-0E8D-A94F-B474-4909D0E78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5C681-F6A7-1471-4241-23FFAA8C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21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711E3-2766-C194-3035-EA92294F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254F45-D083-1E23-0957-2B94E1164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71DE8-9CC0-DE1B-A9E8-E900DDCA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D2338-EB70-78B3-04E8-081C7B229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39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6F10A3-7809-E665-6D31-0B72448C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A10D3E-488E-86AE-1886-0C478399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70C7-6B8D-6A95-A5E8-91CD215A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342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E71E-D6EB-AD5F-11C9-859F8E795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62502-4DAC-0FAC-7A99-641DFC4DB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12D85-CFBA-1710-8727-6E8044116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AF872-86E4-F287-51DC-4C920820B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5091E-9F74-B1FD-AC91-4BA42242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5CCCE-FB4C-AE93-2649-11EF8B40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995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47C5-4675-05F0-572E-81810327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8D475-8AA4-40FA-19E0-C3CAFF96D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74253-2D73-FFBA-52EC-16A6704C6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53DF-4D80-39C5-C82B-0BD5B45D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38F90-7261-DC07-035E-01C5FF9F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4CDC3-BA46-E5C1-BFD7-E02B9982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F0DE-07EB-5404-5128-D2B464E70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2F2CA-0910-4A3C-BE51-67A4CBFD3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7D85-B05A-A890-F61A-331F8D0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9AD34-418D-1BD5-4033-0A9C0FE87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C38A-C1A3-02F3-460A-AED17037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6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F4D08-5D6D-E381-F67C-A2A38B5BD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4A61E-3091-96AE-E93F-FD899F09E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D3682-979B-BD81-BBE6-E10D5F0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BDE2A-6E26-3AB5-63D2-91533C50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2DC8D-491E-1FC1-DD4B-A90886C94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D99742-43DF-60DD-E25A-A8A794C5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8CF3D-1224-31C1-BC1E-97D09C5B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E14CC-6728-1948-0D35-9401CB296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085B-59BF-413B-BC82-B4923E5EA610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7C21-BCD5-1B37-9FC5-0B1460643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37B22-005B-A688-B01E-2C4677E63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5C793E-F706-40D9-8BEC-FAE7851A49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08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256032" cy="6046927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731520"/>
            <a:ext cx="82296" cy="60469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689049" y="1600200"/>
            <a:ext cx="182880" cy="50292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89049" y="2331720"/>
            <a:ext cx="182880" cy="5029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689049" y="3063240"/>
            <a:ext cx="182880" cy="5029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689049" y="3794760"/>
            <a:ext cx="182880" cy="50292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89049" y="4526280"/>
            <a:ext cx="182880" cy="50292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810512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EC5E2"/>
                </a:solidFill>
                <a:latin typeface="Segoe UI Semibold"/>
              </a:rPr>
              <a:t>CSE252  ·  INTRODUCTION TO ARTIFICIAL INTELLIGENCE &amp;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49424"/>
            <a:ext cx="9326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7D35"/>
                </a:solidFill>
                <a:latin typeface="Segoe UI Semibold"/>
              </a:rPr>
              <a:t>UNIT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9509760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 Semibold"/>
              </a:rPr>
              <a:t>Unsupervised Learning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4224528"/>
            <a:ext cx="2377440" cy="45720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443984"/>
            <a:ext cx="90525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ACADE"/>
                </a:solidFill>
                <a:latin typeface="Segoe UI"/>
              </a:rPr>
              <a:t>No labels, no right answers, no supervision. Finding the structure that was already there - in customers, in point clouds, in shopping baskets.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175504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CA5C4"/>
                </a:solidFill>
                <a:latin typeface="Segoe UI"/>
              </a:rPr>
              <a:t>K-Means  •  Hierarchical Clustering  •  DBSCAN  •  Dimensionality Reduction &amp; PCA  •  Association Rules &amp; Apriori  •  Robotics &amp; Sensor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6035040"/>
            <a:ext cx="10088849" cy="10972"/>
          </a:xfrm>
          <a:prstGeom prst="rect">
            <a:avLst/>
          </a:prstGeom>
          <a:solidFill>
            <a:srgbClr val="3C5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6181344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School of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569" y="618134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AFCD"/>
                </a:solidFill>
                <a:latin typeface="Segoe UI"/>
              </a:rPr>
              <a:t>Session 2026-27  ·  CO4  ·  Clustering · PCA · Pattern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OPENING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Disease That Turned Out to Be Four Diseases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65476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E7E9EB"/>
          </a:solidFill>
          <a:ln w="22225">
            <a:solidFill>
              <a:srgbClr val="586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86476"/>
                </a:solidFill>
                <a:latin typeface="Segoe UI Semibold"/>
              </a:rPr>
              <a:t>Before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breast cancer treated
as ONE disease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69584" y="3337560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35344" y="2665476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DBF0F7"/>
          </a:solidFill>
          <a:ln w="22225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The data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gene expression
from many tumours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2008" y="3337560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67768" y="2665476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DDECE4"/>
          </a:solidFill>
          <a:ln w="2222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Cluster it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groups emerge
nobody defined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33" y="3337560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0193" y="2665476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E8E1EF"/>
          </a:solidFill>
          <a:ln w="22225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2D91"/>
                </a:solidFill>
                <a:latin typeface="Segoe UI Semibold"/>
              </a:rPr>
              <a:t>The finding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molecularly distinct
subtypes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3161" y="3995927"/>
            <a:ext cx="3675887" cy="1051560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28016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750" b="1" i="0">
                <a:solidFill>
                  <a:srgbClr val="D97706"/>
                </a:solidFill>
                <a:latin typeface="Segoe UI Semibold"/>
              </a:rPr>
              <a:t>DID YOU KNOW?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1C2330"/>
                </a:solidFill>
                <a:latin typeface="Segoe UI"/>
              </a:rPr>
              <a:t>This is the strongest argument for unsupervised learning there is: a supervised model can only ever confirm categories somebody already named.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3161" y="3995927"/>
            <a:ext cx="6858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13161" y="1792224"/>
            <a:ext cx="3675887" cy="2075687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</a:pPr>
            <a:r>
              <a:rPr sz="750" b="1" i="0">
                <a:solidFill>
                  <a:srgbClr val="D97706"/>
                </a:solidFill>
                <a:latin typeface="Segoe UI Semibold"/>
              </a:rPr>
              <a:t>HOW THE STORY GOES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For most of medical history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breast cancer was treated as a single disease with a single standard of care.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Researchers measured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the expression of thousands of genes across many tumour samples.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Then they clustered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the patients. No labels. No hypothesis about how many groups there should be.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Groups emerged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that turned out to correspond to molecularly distinct subtypes - which respond to different treatments.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Nobody supplied those categories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The structure was in the biology, and clustering surfaced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38928"/>
            <a:ext cx="11186129" cy="53035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5875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THINK OF IT LIKE   </a:t>
            </a:r>
            <a:r>
              <a:rPr sz="1250" b="1" i="0">
                <a:solidFill>
                  <a:srgbClr val="182B49"/>
                </a:solidFill>
                <a:latin typeface="Segoe UI Semibold"/>
              </a:rPr>
              <a:t>sorting a box of unlabelled keys.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you do not know the doors yet - but the keys still fall into families.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38928"/>
            <a:ext cx="68580" cy="53035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An algorithm told only 'find groups in this data' helped redefine a disease.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Supervised vs Unsupervised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Same data, no answer key. That changes the goal, the method, and how you judge success.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0096C7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Supervised (Unit 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8420" y="2249424"/>
            <a:ext cx="4390628" cy="420624"/>
          </a:xfrm>
          <a:prstGeom prst="roundRect">
            <a:avLst>
              <a:gd name="adj" fmla="val 12000"/>
            </a:avLst>
          </a:prstGeom>
          <a:solidFill>
            <a:srgbClr val="5C2D91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Unsupervised (Unit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61488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What you are given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9776" y="2761488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Features X AND labels 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79776" y="2761488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298420" y="2761488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Features X only - no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8420" y="2761488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920" y="3240023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The goal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9776" y="3240023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Learn the mapping f : X → 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9776" y="3240023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298420" y="3240023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Discover structure hidden inside 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8420" y="3240023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3718560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Typical tasks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79776" y="3718560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Regression, classification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9776" y="3718560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298420" y="3718560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Clustering, dimensionality reduction, association rules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8420" y="3718560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4197096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How it is evaluated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4197096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Compare predictions against known answers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9776" y="4197096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298420" y="4197096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C2330"/>
                </a:solidFill>
                <a:latin typeface="Segoe UI"/>
              </a:rPr>
              <a:t>Internal measures (silhouette, inertia) plus domain judgement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8420" y="4197096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02920" y="4675632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The hard part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9776" y="4675632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Getting enough labelled data - labelling is expensive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9776" y="4675632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298420" y="4675632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C2330"/>
                </a:solidFill>
                <a:latin typeface="Segoe UI"/>
              </a:rPr>
              <a:t>Knowing whether the structure you found is real or an artefact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98420" y="4675632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2920" y="5154168"/>
            <a:ext cx="2148840" cy="350519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Examples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79776" y="5154168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Spam filter, house price model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79776" y="5154168"/>
            <a:ext cx="54864" cy="350519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298420" y="5154168"/>
            <a:ext cx="4390628" cy="350519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C2330"/>
                </a:solidFill>
                <a:latin typeface="Segoe UI"/>
              </a:rPr>
              <a:t>Customer segments, LiDAR obstacle grouping, market basket analysis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8420" y="5154168"/>
            <a:ext cx="54864" cy="35051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ASK THE CLASS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Labelled data is expensive - someone must annotate every example by hand. Given that, why is unsupervised learning not simply used everywhere?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WHAT YOU ALREADY BRING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You Already Bring to This Unit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Four bridges into this unit - including one from the course you are taking alongside this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7129" y="226771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86476"/>
                </a:solidFill>
                <a:latin typeface="Segoe UI Semibold"/>
              </a:rPr>
              <a:t>THE FOUR BRIDGES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560320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 w="1778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48569" y="2816352"/>
            <a:ext cx="402336" cy="274320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057" y="261518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Unit III: what labels bought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3438144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BF4EB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48569" y="3694175"/>
            <a:ext cx="402336" cy="2743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057" y="349300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Unit II: scale before you measure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7129" y="4315968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BF4EF"/>
          </a:solidFill>
          <a:ln w="1778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48569" y="4571999"/>
            <a:ext cx="402336" cy="274320"/>
          </a:xfrm>
          <a:prstGeom prst="round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057" y="4370831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maths: distance, mean, 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7129" y="5193792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1EEF6"/>
          </a:solidFill>
          <a:ln w="1778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48569" y="5449823"/>
            <a:ext cx="402336" cy="27432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57" y="5248655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and a robot logs no labels at 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267712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80"/>
              </a:spcAft>
            </a:pPr>
            <a:r>
              <a:rPr sz="940" b="1" i="0">
                <a:solidFill>
                  <a:srgbClr val="0096C7"/>
                </a:solidFill>
                <a:latin typeface="Segoe UI Semibold"/>
              </a:rPr>
              <a:t>FROM UNIT III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60"/>
              </a:spcAft>
            </a:pPr>
            <a:r>
              <a:rPr sz="1410" b="1" i="0">
                <a:solidFill>
                  <a:srgbClr val="182B49"/>
                </a:solidFill>
                <a:latin typeface="Segoe UI Semibold"/>
              </a:rPr>
              <a:t>What supervision gave you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A target column, and an accuracy score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Both of those disappear today</a:t>
            </a:r>
          </a:p>
          <a:p>
            <a:pPr marL="237744" indent="-237744" algn="l">
              <a:lnSpc>
                <a:spcPct val="116000"/>
              </a:lnSpc>
              <a:spcBef>
                <a:spcPts val="47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That absence is the whole difficulty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67712"/>
            <a:ext cx="3398504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102592" y="2267712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30"/>
              </a:spcAft>
            </a:pPr>
            <a:r>
              <a:rPr sz="830" b="1" i="0">
                <a:solidFill>
                  <a:srgbClr val="D97706"/>
                </a:solidFill>
                <a:latin typeface="Segoe UI Semibold"/>
              </a:rPr>
              <a:t>FROM UNIT II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8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Scaling and distance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40" b="0" i="0">
                <a:solidFill>
                  <a:srgbClr val="1C2330"/>
                </a:solidFill>
                <a:latin typeface="Segoe UI"/>
              </a:rPr>
              <a:t>Every algorithm here computes distances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40" b="0" i="0">
                <a:solidFill>
                  <a:srgbClr val="1C2330"/>
                </a:solidFill>
                <a:latin typeface="Segoe UI"/>
              </a:rPr>
              <a:t>So every one of them needs scaled features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40" b="0" i="0">
                <a:solidFill>
                  <a:srgbClr val="1C2330"/>
                </a:solidFill>
                <a:latin typeface="Segoe UI"/>
              </a:rPr>
              <a:t>The z-score returns immediately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592" y="2267712"/>
            <a:ext cx="3398504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4398264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07C41"/>
                </a:solidFill>
                <a:latin typeface="Segoe UI Semibold"/>
              </a:rPr>
              <a:t>FROM MATHEMATICS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Coordinates and distance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Pythagoras is Euclidean distance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 mean is the centre of a cluster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Variance is what PCA maximises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98264"/>
            <a:ext cx="3398504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02592" y="4398264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5C2D91"/>
                </a:solidFill>
                <a:latin typeface="Segoe UI Semibold"/>
              </a:rPr>
              <a:t>WHERE IT LANDS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A robot's own logs</a:t>
            </a:r>
          </a:p>
          <a:p>
            <a:pPr marL="237744" indent="-237744" algn="l">
              <a:lnSpc>
                <a:spcPct val="116000"/>
              </a:lnSpc>
              <a:spcBef>
                <a:spcPts val="3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A shift of sensor data, and nobody labelled any of it</a:t>
            </a:r>
          </a:p>
          <a:p>
            <a:pPr marL="237744" indent="-237744" algn="l">
              <a:lnSpc>
                <a:spcPct val="116000"/>
              </a:lnSpc>
              <a:spcBef>
                <a:spcPts val="3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Clusters = operating modes. Outliers = faults</a:t>
            </a:r>
          </a:p>
          <a:p>
            <a:pPr marL="237744" indent="-237744" algn="l">
              <a:lnSpc>
                <a:spcPct val="116000"/>
              </a:lnSpc>
              <a:spcBef>
                <a:spcPts val="37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30" b="0" i="0">
                <a:solidFill>
                  <a:srgbClr val="1C2330"/>
                </a:solidFill>
                <a:latin typeface="Segoe UI"/>
              </a:rPr>
              <a:t>Nobody will ever label 'bearing about to fail'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02592" y="4398264"/>
            <a:ext cx="3398504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Learning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By the end of this unit you should be able to: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6264232" cy="7461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3232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Explain</a:t>
            </a:r>
            <a:r>
              <a:rPr sz="1300" b="0" i="0">
                <a:solidFill>
                  <a:srgbClr val="1C2330"/>
                </a:solidFill>
                <a:latin typeface="Segoe UI"/>
              </a:rPr>
              <a:t>  the K-Means objective and execute Lloyd's algorithm by hand.</a:t>
            </a:r>
            <a:r>
              <a:rPr sz="1050" b="1" i="0">
                <a:solidFill>
                  <a:srgbClr val="107C41"/>
                </a:solidFill>
                <a:latin typeface="Segoe UI Semibold"/>
              </a:rPr>
              <a:t>   CO4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31136"/>
            <a:ext cx="68580" cy="746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4088" y="2457907"/>
            <a:ext cx="310896" cy="29260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68726"/>
            <a:ext cx="6264232" cy="7461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3232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Choose</a:t>
            </a:r>
            <a:r>
              <a:rPr sz="1300" b="0" i="0">
                <a:solidFill>
                  <a:srgbClr val="1C2330"/>
                </a:solidFill>
                <a:latin typeface="Segoe UI"/>
              </a:rPr>
              <a:t>  k using the elbow method and silhouette score, and say why each is limited.</a:t>
            </a:r>
            <a:r>
              <a:rPr sz="1050" b="1" i="0">
                <a:solidFill>
                  <a:srgbClr val="107C41"/>
                </a:solidFill>
                <a:latin typeface="Segoe UI Semibold"/>
              </a:rPr>
              <a:t>   CO4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68726"/>
            <a:ext cx="68580" cy="746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4088" y="3295497"/>
            <a:ext cx="310896" cy="29260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06316"/>
            <a:ext cx="6264232" cy="7461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3232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Compare</a:t>
            </a:r>
            <a:r>
              <a:rPr sz="1300" b="0" i="0">
                <a:solidFill>
                  <a:srgbClr val="1C2330"/>
                </a:solidFill>
                <a:latin typeface="Segoe UI"/>
              </a:rPr>
              <a:t>  K-Means, hierarchical clustering and DBSCAN on cluster shape and noise.</a:t>
            </a:r>
            <a:r>
              <a:rPr sz="1050" b="1" i="0">
                <a:solidFill>
                  <a:srgbClr val="107C41"/>
                </a:solidFill>
                <a:latin typeface="Segoe UI Semibold"/>
              </a:rPr>
              <a:t>   CO4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06316"/>
            <a:ext cx="68580" cy="746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4088" y="4133088"/>
            <a:ext cx="310896" cy="29260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43907"/>
            <a:ext cx="6264232" cy="7461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3232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Apply</a:t>
            </a:r>
            <a:r>
              <a:rPr sz="1300" b="0" i="0">
                <a:solidFill>
                  <a:srgbClr val="1C2330"/>
                </a:solidFill>
                <a:latin typeface="Segoe UI"/>
              </a:rPr>
              <a:t>  PCA to reduce dimensionality and interpret the explained variance.</a:t>
            </a:r>
            <a:r>
              <a:rPr sz="1050" b="1" i="0">
                <a:solidFill>
                  <a:srgbClr val="107C41"/>
                </a:solidFill>
                <a:latin typeface="Segoe UI Semibold"/>
              </a:rPr>
              <a:t>   CO4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743907"/>
            <a:ext cx="68580" cy="746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4088" y="4970678"/>
            <a:ext cx="310896" cy="29260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581497"/>
            <a:ext cx="6264232" cy="74615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13232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Compute</a:t>
            </a:r>
            <a:r>
              <a:rPr sz="1300" b="0" i="0">
                <a:solidFill>
                  <a:srgbClr val="1C2330"/>
                </a:solidFill>
                <a:latin typeface="Segoe UI"/>
              </a:rPr>
              <a:t>  support, confidence and lift, and mine rules with Apriori.</a:t>
            </a:r>
            <a:r>
              <a:rPr sz="1050" b="1" i="0">
                <a:solidFill>
                  <a:srgbClr val="107C41"/>
                </a:solidFill>
                <a:latin typeface="Segoe UI Semibold"/>
              </a:rPr>
              <a:t>   CO4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81497"/>
            <a:ext cx="68580" cy="74615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4088" y="5808268"/>
            <a:ext cx="310896" cy="292608"/>
          </a:xfrm>
          <a:prstGeom prst="ellipse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4896" y="2231136"/>
            <a:ext cx="4684152" cy="882396"/>
          </a:xfrm>
          <a:prstGeom prst="roundRect">
            <a:avLst>
              <a:gd name="adj" fmla="val 8000"/>
            </a:avLst>
          </a:prstGeom>
          <a:solidFill>
            <a:srgbClr val="DBF0F7"/>
          </a:solidFill>
          <a:ln w="2286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Remember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recall the terms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04896" y="3204972"/>
            <a:ext cx="4684152" cy="882396"/>
          </a:xfrm>
          <a:prstGeom prst="roundRect">
            <a:avLst>
              <a:gd name="adj" fmla="val 8000"/>
            </a:avLst>
          </a:prstGeom>
          <a:solidFill>
            <a:srgbClr val="DDECE4"/>
          </a:solidFill>
          <a:ln w="2286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Understand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explain them in your own words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4896" y="4178808"/>
            <a:ext cx="4684152" cy="882396"/>
          </a:xfrm>
          <a:prstGeom prst="roundRect">
            <a:avLst>
              <a:gd name="adj" fmla="val 8000"/>
            </a:avLst>
          </a:prstGeom>
          <a:solidFill>
            <a:srgbClr val="F9EBDC"/>
          </a:solidFill>
          <a:ln w="2286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7706"/>
                </a:solidFill>
                <a:latin typeface="Segoe UI Semibold"/>
              </a:rPr>
              <a:t>Apply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use them on a problem you have not seen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896" y="5152644"/>
            <a:ext cx="4684152" cy="882396"/>
          </a:xfrm>
          <a:prstGeom prst="roundRect">
            <a:avLst>
              <a:gd name="adj" fmla="val 8000"/>
            </a:avLst>
          </a:prstGeom>
          <a:solidFill>
            <a:srgbClr val="E8E1EF"/>
          </a:solidFill>
          <a:ln w="2286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2D91"/>
                </a:solidFill>
                <a:latin typeface="Segoe UI Semibold"/>
              </a:rPr>
              <a:t>Analyse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choose between them and justify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896" y="6089904"/>
            <a:ext cx="4684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86476"/>
                </a:solidFill>
                <a:latin typeface="Segoe UI"/>
              </a:rPr>
              <a:t>the levels this unit is assessed 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Clustering
Algorithms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0096C7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K-Means and Lloyd's algorithm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Choosing K: the elbow method and silhouette score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Hierarchical clustering and dendrograms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DBSCAN: density, core points and noise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Which algorithm for which shape of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K-Means - The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Partition n points into K groups so that points are as close as possible to their own cluster's centre.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7702265" cy="4078224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WITHIN-CLUSTER SUM OF SQUARES (WCSS), ALSO CALLED INERTIA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B49"/>
                </a:solidFill>
                <a:latin typeface="Cambria Math"/>
              </a:rPr>
              <a:t>J = Σₖ Σ_{xᵢ ∈ Cₖ}  ‖ xᵢ − μₖ ‖²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Total squared distance from every point to its own cluster centroid. K-Means minimises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4078224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42929" y="2249424"/>
            <a:ext cx="3246120" cy="40782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READING THE NOTATION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K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the number of clusters - YOU must choose this in advance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Cₖ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the set of points assigned to cluster k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μₖ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the centroid of cluster k - the mean of its points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‖·‖²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squared Euclidean distance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Note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J always decreases as K increases - at K = n, J = 0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Therefore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you cannot choose K by minimising J. Use the elbow or silhouette.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K-Means - Lloyd's Algorithm, Step by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Two steps repeated until nothing moves: assign points to centroids, then move centroids to 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Choose K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Place K initial centroids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Randomly, or better: K-Means++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2134813" cy="54864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01  INITIALISE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2624017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65749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For every point, find the nearest centroid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Assign the point to that cluster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Clusters are now redefined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5749" y="2249424"/>
            <a:ext cx="2134813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12053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02  ASSIGN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4886846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8578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Recompute each centroid as the MEAN of its assigned points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Centroids move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8578" y="2249424"/>
            <a:ext cx="2134813" cy="54864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4882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03  UPDATE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7149675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91407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Go back to step 2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Assignments change, centroids move again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1407" y="2249424"/>
            <a:ext cx="2134813" cy="54864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7711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04  REPEAT</a:t>
            </a:r>
          </a:p>
        </p:txBody>
      </p:sp>
      <p:sp>
        <p:nvSpPr>
          <p:cNvPr id="27" name="Isosceles Triangle 26"/>
          <p:cNvSpPr/>
          <p:nvPr/>
        </p:nvSpPr>
        <p:spPr>
          <a:xfrm rot="5400000">
            <a:off x="9412504" y="2450592"/>
            <a:ext cx="155448" cy="155448"/>
          </a:xfrm>
          <a:prstGeom prst="triangle">
            <a:avLst/>
          </a:prstGeom>
          <a:solidFill>
            <a:srgbClr val="B4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54236" y="2249424"/>
            <a:ext cx="2134813" cy="32552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" tIns="694944" rIns="137160" bIns="0" rtlCol="0" anchor="t"/>
          <a:lstStyle/>
          <a:p>
            <a:pPr marL="237744" indent="-237744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Stop when assignments no longer change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Guaranteed to converge - but possibly to a LOCAL minimum</a:t>
            </a:r>
          </a:p>
          <a:p>
            <a:pPr marL="237744" indent="-237744"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150" b="0" i="0">
                <a:solidFill>
                  <a:srgbClr val="1C2330"/>
                </a:solidFill>
                <a:latin typeface="Segoe UI"/>
              </a:rPr>
              <a:t>So run it several times (n_init) and keep the best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4236" y="2249424"/>
            <a:ext cx="2134813" cy="5486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00540" y="2350008"/>
            <a:ext cx="184220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 Semibold"/>
              </a:rPr>
              <a:t>05  CONVERGE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PREDICT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K-Means starts with RANDOM centroids. Run it twice on identical data - will you get identical clusters? Why does that matter?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Lloyd's Algorithm - Three Snapshots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9</a:t>
            </a:r>
          </a:p>
        </p:txBody>
      </p:sp>
      <p:pic>
        <p:nvPicPr>
          <p:cNvPr id="11" name="Picture 10" descr="u4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82355"/>
            <a:ext cx="7272497" cy="24419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Start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centroids are placed - here, badly on purpose.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Step 1 - assign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every point joins its nearest centroid. Colours change.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Step 2 - update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each centroid moves to the mean of its members. Crosses move.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Repeat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assign, update, assign, update...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Converged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when no point changes colour. Usually a handful of iterations.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Two steps, alternated until nothing moves. That is the entire algorithm.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Choosing K - Two Standard 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K-Means cannot choose K for you. These two methods are how you choose it defensibly.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D97706"/>
                </a:solidFill>
                <a:latin typeface="Segoe UI Semibold"/>
              </a:rPr>
              <a:t>How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run K-Means for K = 1, 2, 3 … 10 and plot WCSS (inertia) against K.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D97706"/>
                </a:solidFill>
                <a:latin typeface="Segoe UI Semibold"/>
              </a:rPr>
              <a:t>What you see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WCSS falls steeply at first, then flattens. The 'elbow' is where the improvement suddenly slows.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D97706"/>
                </a:solidFill>
                <a:latin typeface="Segoe UI Semibold"/>
              </a:rPr>
              <a:t>The logic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beyond the elbow, extra clusters buy very little reduction in error - you are splitting groups that were already coherent.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D97706"/>
                </a:solidFill>
                <a:latin typeface="Segoe UI Semibold"/>
              </a:rPr>
              <a:t>The weakness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the elbow is often ambiguous. Real curves frequently have no sharp bend, and two people read the same plot differently.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D97706"/>
                </a:solidFill>
                <a:latin typeface="Segoe UI Semibold"/>
              </a:rPr>
              <a:t>In practice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use it as a first guide, not a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The Elbow Method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07C41"/>
                </a:solidFill>
                <a:latin typeface="Segoe UI Semibold"/>
              </a:rPr>
              <a:t>The formula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sᵢ = (bᵢ − aᵢ) / max(aᵢ, bᵢ),  ranging from −1 to +1.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107C41"/>
                </a:solidFill>
                <a:latin typeface="Segoe UI Semibold"/>
              </a:rPr>
              <a:t>aᵢ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mean distance from point i to the other points in ITS OWN cluster - how tight the fit is.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107C41"/>
                </a:solidFill>
                <a:latin typeface="Segoe UI Semibold"/>
              </a:rPr>
              <a:t>bᵢ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mean distance from point i to points in the NEAREST OTHER cluster - how well separated it is.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107C41"/>
                </a:solidFill>
                <a:latin typeface="Segoe UI Semibold"/>
              </a:rPr>
              <a:t>Reading it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s ≈ +1 means well clustered; s ≈ 0 means the point sits on a boundary; s &lt; 0 means it is probably in the wrong cluster.</a:t>
            </a:r>
          </a:p>
          <a:p>
            <a:pPr algn="l">
              <a:lnSpc>
                <a:spcPct val="116000"/>
              </a:lnSpc>
              <a:spcBef>
                <a:spcPts val="760"/>
              </a:spcBef>
              <a:spcAft>
                <a:spcPts val="0"/>
              </a:spcAft>
            </a:pPr>
            <a:r>
              <a:rPr sz="1140" b="1" i="0">
                <a:solidFill>
                  <a:srgbClr val="107C41"/>
                </a:solidFill>
                <a:latin typeface="Segoe UI Semibold"/>
              </a:rPr>
              <a:t>How to use  </a:t>
            </a:r>
            <a:r>
              <a:rPr sz="1140" b="0" i="0">
                <a:solidFill>
                  <a:srgbClr val="1C2330"/>
                </a:solidFill>
                <a:latin typeface="Segoe UI"/>
              </a:rPr>
              <a:t>average s over all points, for each K. Choose the K with the highest average - a single defensible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Silhouette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THINK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Elbow says K=3, silhouette says K=5, and the marketing team wants 4 segments they can actually staff. What do you do?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CHOOSING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Elbow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11</a:t>
            </a:r>
          </a:p>
        </p:txBody>
      </p:sp>
      <p:pic>
        <p:nvPicPr>
          <p:cNvPr id="11" name="Picture 10" descr="u4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32" y="1792224"/>
            <a:ext cx="6082673" cy="3822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curve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within-cluster sum of squares against k. It always falls.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Why it always falls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more clusters means every point is closer to its own centroid. At k = n, WCSS = 0.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So the minimum is useless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you cannot just pick the lowest point.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elbow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where the steep drop stops paying. Here, k = 3.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Honest warning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on real data the elbow is often ambiguous. Use silhouette score too, and use judgement.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Do not minimise WCSS - it is minimised by giving every point its own cluster. Look for where the gain stops being worth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Worked Example: One Iteration of K-Means by Hand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3703320" cy="2358420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THE PROBLEM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1-D data points: 2, 3, 6, 8, 12, 15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K = 2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Initial centroids: μ₁ = 3,  μ₂ = 12</a:t>
            </a:r>
          </a:p>
          <a:p>
            <a:pPr marL="237744" indent="-237744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300" b="0" i="0">
                <a:solidFill>
                  <a:srgbClr val="DEE8F4"/>
                </a:solidFill>
                <a:latin typeface="Segoe UI"/>
              </a:rPr>
              <a:t>Perform ONE full assignment + update iteration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33524"/>
            <a:ext cx="3703320" cy="1994123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40"/>
              </a:spcAft>
            </a:pPr>
            <a:r>
              <a:rPr sz="840" b="1" i="0">
                <a:solidFill>
                  <a:srgbClr val="D97706"/>
                </a:solidFill>
                <a:latin typeface="Segoe UI Semibold"/>
              </a:rPr>
              <a:t>WHY IT MATTERS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00" b="0" i="0">
                <a:solidFill>
                  <a:srgbClr val="1C2330"/>
                </a:solidFill>
                <a:latin typeface="Segoe UI"/>
              </a:rPr>
              <a:t>Next iteration: re-assign with the NEW centroids and check whether anything moves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00" b="0" i="0">
                <a:solidFill>
                  <a:srgbClr val="1C2330"/>
                </a:solidFill>
                <a:latin typeface="Segoe UI"/>
              </a:rPr>
              <a:t>If no assignment changes, the algorithm has converged</a:t>
            </a:r>
          </a:p>
          <a:p>
            <a:pPr marL="237744" indent="-237744" algn="l">
              <a:lnSpc>
                <a:spcPct val="116000"/>
              </a:lnSpc>
              <a:spcBef>
                <a:spcPts val="4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00" b="0" i="0">
                <a:solidFill>
                  <a:srgbClr val="1C2330"/>
                </a:solidFill>
                <a:latin typeface="Segoe UI"/>
              </a:rPr>
              <a:t>Point 8 was the borderline case - it decided the whole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92224"/>
            <a:ext cx="7245065" cy="35844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19456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STEP-BY-STEP SOLUTION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1 - assign 2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|2−3| = 1 vs |2−12| = 10  →  Cluster 1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2 - assign 3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|3−3| = 0 vs |3−12| = 9   →  Cluster 1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3 - assign 6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|6−3| = 3 vs |6−12| = 6   →  Cluster 1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4 - assign 8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|8−3| = 5 vs |8−12| = 4   →  Cluster 2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5 - assign 12, 15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both are clearly nearer to 12  →  Cluster 2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6 - update μ₁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mean of {2, 3, 6} = 11/3 ≈ 3.67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7 - update μ₂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mean of {8, 12, 15} = 35/3 ≈ 11.67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5541264"/>
            <a:ext cx="7245065" cy="786384"/>
          </a:xfrm>
          <a:prstGeom prst="roundRect">
            <a:avLst>
              <a:gd name="adj" fmla="val 8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ANSWER   </a:t>
            </a:r>
            <a:r>
              <a:rPr sz="1500" b="1" i="0">
                <a:solidFill>
                  <a:srgbClr val="182B49"/>
                </a:solidFill>
                <a:latin typeface="Cambria Math"/>
              </a:rPr>
              <a:t>C₁ = {2, 3, 6} with μ₁ ≈ 3.67   ·   C₂ = {8, 12, 15} with μ₂ ≈ 11.67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3" y="5541264"/>
            <a:ext cx="73152" cy="78638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HIERARCHICAL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Hierarchical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Do not commit to K. Build the entire tree of possible clusterings, then cut it where you like.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07C41"/>
                </a:solidFill>
                <a:latin typeface="Segoe UI Semibold"/>
              </a:rPr>
              <a:t>Agglomerative (bottom-up)  </a:t>
            </a:r>
            <a:r>
              <a:rPr sz="1060" b="0" i="0">
                <a:solidFill>
                  <a:srgbClr val="1C2330"/>
                </a:solidFill>
                <a:latin typeface="Segoe UI"/>
              </a:rPr>
              <a:t>start with every point as its own cluster, then repeatedly merge the two closest clusters until one remains.</a:t>
            </a:r>
          </a:p>
          <a:p>
            <a:pPr algn="l"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60" b="1" i="0">
                <a:solidFill>
                  <a:srgbClr val="107C41"/>
                </a:solidFill>
                <a:latin typeface="Segoe UI Semibold"/>
              </a:rPr>
              <a:t>Divisive (top-down)  </a:t>
            </a:r>
            <a:r>
              <a:rPr sz="1060" b="0" i="0">
                <a:solidFill>
                  <a:srgbClr val="1C2330"/>
                </a:solidFill>
                <a:latin typeface="Segoe UI"/>
              </a:rPr>
              <a:t>start with one cluster containing everything and repeatedly split. Less common in practice.</a:t>
            </a:r>
          </a:p>
          <a:p>
            <a:pPr algn="l"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60" b="1" i="0">
                <a:solidFill>
                  <a:srgbClr val="107C41"/>
                </a:solidFill>
                <a:latin typeface="Segoe UI Semibold"/>
              </a:rPr>
              <a:t>The output  </a:t>
            </a:r>
            <a:r>
              <a:rPr sz="1060" b="0" i="0">
                <a:solidFill>
                  <a:srgbClr val="1C2330"/>
                </a:solidFill>
                <a:latin typeface="Segoe UI"/>
              </a:rPr>
              <a:t>a DENDROGRAM - a tree showing every merge and the distance at which it happened.</a:t>
            </a:r>
          </a:p>
          <a:p>
            <a:pPr algn="l"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60" b="1" i="0">
                <a:solidFill>
                  <a:srgbClr val="107C41"/>
                </a:solidFill>
                <a:latin typeface="Segoe UI Semibold"/>
              </a:rPr>
              <a:t>Getting clusters  </a:t>
            </a:r>
            <a:r>
              <a:rPr sz="1060" b="0" i="0">
                <a:solidFill>
                  <a:srgbClr val="1C2330"/>
                </a:solidFill>
                <a:latin typeface="Segoe UI"/>
              </a:rPr>
              <a:t>cut the dendrogram horizontally at a chosen height. The number of vertical lines you cut gives the number of clusters.</a:t>
            </a:r>
          </a:p>
          <a:p>
            <a:pPr algn="l"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60" b="1" i="0">
                <a:solidFill>
                  <a:srgbClr val="107C41"/>
                </a:solidFill>
                <a:latin typeface="Segoe UI Semibold"/>
              </a:rPr>
              <a:t>Key advantage  </a:t>
            </a:r>
            <a:r>
              <a:rPr sz="1060" b="0" i="0">
                <a:solidFill>
                  <a:srgbClr val="1C2330"/>
                </a:solidFill>
                <a:latin typeface="Segoe UI"/>
              </a:rPr>
              <a:t>you do NOT have to choose K in advance - you get the whole hierarchy and decide afterwards.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How it 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144" y="2267712"/>
            <a:ext cx="5455904" cy="32369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D97706"/>
                </a:solidFill>
                <a:latin typeface="Segoe UI Semibold"/>
              </a:rPr>
              <a:t>Single linkage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the MINIMUM distance between any two members. Can chain clusters together into long straggly shapes.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D97706"/>
                </a:solidFill>
                <a:latin typeface="Segoe UI Semibold"/>
              </a:rPr>
              <a:t>Complete linkage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the MAXIMUM distance between any two members. Produces compact, roughly equal-sized clusters.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D97706"/>
                </a:solidFill>
                <a:latin typeface="Segoe UI Semibold"/>
              </a:rPr>
              <a:t>Average linkage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the mean distance between all cross-cluster pairs. A middle ground.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D97706"/>
                </a:solidFill>
                <a:latin typeface="Segoe UI Semibold"/>
              </a:rPr>
              <a:t>Ward's linkage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merge the pair that increases total within-cluster variance least. Usually the best default.</a:t>
            </a:r>
          </a:p>
          <a:p>
            <a:pPr algn="l">
              <a:lnSpc>
                <a:spcPct val="116000"/>
              </a:lnSpc>
              <a:spcBef>
                <a:spcPts val="819"/>
              </a:spcBef>
              <a:spcAft>
                <a:spcPts val="0"/>
              </a:spcAft>
            </a:pPr>
            <a:r>
              <a:rPr sz="1230" b="1" i="0">
                <a:solidFill>
                  <a:srgbClr val="D97706"/>
                </a:solidFill>
                <a:latin typeface="Segoe UI Semibold"/>
              </a:rPr>
              <a:t>Cost  </a:t>
            </a:r>
            <a:r>
              <a:rPr sz="1230" b="0" i="0">
                <a:solidFill>
                  <a:srgbClr val="1C2330"/>
                </a:solidFill>
                <a:latin typeface="Segoe UI"/>
              </a:rPr>
              <a:t>roughly O(n²) memory and O(n³) time - impractical beyond tens of thousands of 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2267712"/>
            <a:ext cx="5455904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6024" y="2336292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Linkage - how to measure cluster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READ IT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If you cut a dendrogram lower down, do you get MORE clusters or FEWER? Why?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HIERARCHICAL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Reading a Dendrogram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14</a:t>
            </a:r>
          </a:p>
        </p:txBody>
      </p:sp>
      <p:pic>
        <p:nvPicPr>
          <p:cNvPr id="11" name="Picture 10" descr="u4_den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73" y="1792224"/>
            <a:ext cx="6383591" cy="3822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60"/>
              </a:spcAft>
            </a:pPr>
            <a:r>
              <a:rPr sz="100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Leaves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individual data points, along the bottom.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Height of a join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how DISSIMILAR the two things being merged are. Low join = very alike.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A and B merge low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so they are the most similar pair.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The red cut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slice horizontally and count the vertical lines you cross - that is your number of clusters.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The advantage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you do NOT choose k in advance. You choose it afterwards, by where you cut.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Height means dissimilarity. Cutting the tree at a different height gives a different k - no re-run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DBSCAN - Density-Based Clustering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Clusters are dense regions separated by sparse ones. No K needed, and outliers are named rather than absorbed.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2645656" cy="323697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96C7"/>
                </a:solidFill>
                <a:latin typeface="Segoe UI Semibold"/>
              </a:rPr>
              <a:t>THE PARAMETERS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ε and MinPts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ε (eps): the radius defining a point's neighbourhood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MinPts: how many neighbours are needed to be 'dense'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 K required - the number of clusters emerges from the data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But these two parameters need tuning instead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2645656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49744" y="2267712"/>
            <a:ext cx="2645656" cy="323697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00" b="1" i="0">
                <a:solidFill>
                  <a:srgbClr val="D97706"/>
                </a:solidFill>
                <a:latin typeface="Segoe UI Semibold"/>
              </a:rPr>
              <a:t>POINT TYPES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Core, Border, Noise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CORE POINT: has at least MinPts neighbours within ε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BORDER POINT: fewer than MinPts neighbours, but lies within ε of a core point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NOISE POINT: neither - flagged as an outlier and belongs to NO cluster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This is the only algorithm here that explicitly identifies noise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9744" y="2267712"/>
            <a:ext cx="2645656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6568" y="2267712"/>
            <a:ext cx="2645656" cy="323697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07C41"/>
                </a:solidFill>
                <a:latin typeface="Segoe UI Semibold"/>
              </a:rPr>
              <a:t>THE ADVANTAGE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Arbitrary shapes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Finds clusters of any geometry - rings, crescents, elongated bands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K-Means would slice these apart, because it assumes spheres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Robust to outliers - they are labelled noise rather than forced into a cluster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568" y="2267712"/>
            <a:ext cx="2645656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43393" y="2267712"/>
            <a:ext cx="2645656" cy="323697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40"/>
              </a:spcAft>
            </a:pPr>
            <a:r>
              <a:rPr sz="850" b="1" i="0">
                <a:solidFill>
                  <a:srgbClr val="B42318"/>
                </a:solidFill>
                <a:latin typeface="Segoe UI Semibold"/>
              </a:rPr>
              <a:t>THE LIMITATIONS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90"/>
              </a:spcAft>
            </a:pPr>
            <a:r>
              <a:rPr sz="1270" b="1" i="0">
                <a:solidFill>
                  <a:srgbClr val="182B49"/>
                </a:solidFill>
                <a:latin typeface="Segoe UI Semibold"/>
              </a:rPr>
              <a:t>Where it struggles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Fails when clusters have very different densities - one ε cannot suit all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Sensitive to the choice of ε; the k-distance plot helps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Struggles in high dimensions, where density becomes meaningless</a:t>
            </a:r>
          </a:p>
          <a:p>
            <a:pPr marL="237744" indent="-237744" algn="l">
              <a:lnSpc>
                <a:spcPct val="116000"/>
              </a:lnSpc>
              <a:spcBef>
                <a:spcPts val="42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019" b="0" i="0">
                <a:solidFill>
                  <a:srgbClr val="1C2330"/>
                </a:solidFill>
                <a:latin typeface="Segoe UI"/>
              </a:rPr>
              <a:t>Border points can be assigned differently depending on processing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393" y="2267712"/>
            <a:ext cx="2645656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COMPARE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Sketch two concentric rings of points. What does K-Means with K=2 do? What does DBSCAN do?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DBSCAN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Where K-Means Fails and DBSCAN Does 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16</a:t>
            </a:r>
          </a:p>
        </p:txBody>
      </p:sp>
      <p:pic>
        <p:nvPicPr>
          <p:cNvPr id="11" name="Picture 10" descr="u4_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2024"/>
            <a:ext cx="7272497" cy="31225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60"/>
              </a:spcAft>
            </a:pPr>
            <a:r>
              <a:rPr sz="100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The data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two interleaving crescents. Obvious to your eye.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K-Means, k = 2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cuts straight through both. It is doing exactly what it was built to do.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Why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K-Means assigns by distance to a centre, so its clusters are always convex blobs.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DBSCAN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grows clusters through dense regions, so it follows the shape.</a:t>
            </a:r>
          </a:p>
          <a:p>
            <a:pPr algn="l">
              <a:lnSpc>
                <a:spcPct val="114000"/>
              </a:lnSpc>
              <a:spcBef>
                <a:spcPts val="760"/>
              </a:spcBef>
              <a:spcAft>
                <a:spcPts val="0"/>
              </a:spcAft>
            </a:pPr>
            <a:r>
              <a:rPr sz="1190" b="1" i="0">
                <a:solidFill>
                  <a:srgbClr val="182B49"/>
                </a:solidFill>
                <a:latin typeface="Segoe UI Semibold"/>
              </a:rPr>
              <a:t>Bonus  </a:t>
            </a:r>
            <a:r>
              <a:rPr sz="1190" b="0" i="0">
                <a:solidFill>
                  <a:srgbClr val="1C2330"/>
                </a:solidFill>
                <a:latin typeface="Segoe UI"/>
              </a:rPr>
              <a:t>DBSCAN also labels sparse points as NOISE instead of forcing them into a cluster.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K-Means is not broken here - it is being asked for a shape it cannot make.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Which Clustering Algorithm? A Decision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Three algorithms, three different assumptions about what a cluster 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2249424"/>
            <a:ext cx="2884413" cy="420624"/>
          </a:xfrm>
          <a:prstGeom prst="roundRect">
            <a:avLst>
              <a:gd name="adj" fmla="val 12000"/>
            </a:avLst>
          </a:prstGeom>
          <a:solidFill>
            <a:srgbClr val="0096C7"/>
          </a:solidFill>
          <a:ln w="1270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K-Means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2205" y="2249424"/>
            <a:ext cx="2884413" cy="420624"/>
          </a:xfrm>
          <a:prstGeom prst="roundRect">
            <a:avLst>
              <a:gd name="adj" fmla="val 12000"/>
            </a:avLst>
          </a:prstGeom>
          <a:solidFill>
            <a:srgbClr val="107C41"/>
          </a:solidFill>
          <a:ln w="1270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Hierarchical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4635" y="2249424"/>
            <a:ext cx="2884413" cy="420624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DBSCAN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61488"/>
            <a:ext cx="2148840" cy="446227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Do you need K in advance?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2761488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79776" y="2761488"/>
            <a:ext cx="54864" cy="4462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92205" y="2761488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 - cut the tree later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2205" y="2761488"/>
            <a:ext cx="54864" cy="446227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04635" y="2761488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 - but you need ε and MinPts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04635" y="2761488"/>
            <a:ext cx="54864" cy="44622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3335731"/>
            <a:ext cx="2148840" cy="446227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Cluster shapes it finds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79776" y="3335731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Spherical, similar sizes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9776" y="3335731"/>
            <a:ext cx="54864" cy="4462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792205" y="3335731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Depends on linkage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92205" y="3335731"/>
            <a:ext cx="54864" cy="446227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04635" y="3335731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Arbitrary - rings, crescents, bands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4635" y="3335731"/>
            <a:ext cx="54864" cy="44622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3909974"/>
            <a:ext cx="2148840" cy="446227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Handles outliers?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79776" y="3909974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C2330"/>
                </a:solidFill>
                <a:latin typeface="Segoe UI"/>
              </a:rPr>
              <a:t>No - forces every point into a cluster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79776" y="3909974"/>
            <a:ext cx="54864" cy="4462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792205" y="3909974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No - every point ends up somewhere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92205" y="3909974"/>
            <a:ext cx="54864" cy="446227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04635" y="3909974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labels them as noise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04635" y="3909974"/>
            <a:ext cx="54864" cy="44622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2920" y="4484217"/>
            <a:ext cx="2148840" cy="446227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Scales to large n?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79776" y="4484217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Yes - roughly O(n·K·d·iter)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79776" y="4484217"/>
            <a:ext cx="54864" cy="4462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792205" y="4484217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C2330"/>
                </a:solidFill>
                <a:latin typeface="Segoe UI"/>
              </a:rPr>
              <a:t>Poorly - about O(n³)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92205" y="4484217"/>
            <a:ext cx="54864" cy="446227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804635" y="4484217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C2330"/>
                </a:solidFill>
                <a:latin typeface="Segoe UI"/>
              </a:rPr>
              <a:t>Reasonably - about O(n log n) with an index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04635" y="4484217"/>
            <a:ext cx="54864" cy="44622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5058460"/>
            <a:ext cx="2148840" cy="446227"/>
          </a:xfrm>
          <a:prstGeom prst="roundRect">
            <a:avLst>
              <a:gd name="adj" fmla="val 6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Best used when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79776" y="5058460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C2330"/>
                </a:solidFill>
                <a:latin typeface="Segoe UI"/>
              </a:rPr>
              <a:t>You know roughly how many groups, and they are compact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79776" y="5058460"/>
            <a:ext cx="54864" cy="446227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792205" y="5058460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C2330"/>
                </a:solidFill>
                <a:latin typeface="Segoe UI"/>
              </a:rPr>
              <a:t>You want the full hierarchy, or n is small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92205" y="5058460"/>
            <a:ext cx="54864" cy="446227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804635" y="5058460"/>
            <a:ext cx="2884413" cy="446227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12801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C2330"/>
                </a:solidFill>
                <a:latin typeface="Segoe UI"/>
              </a:rPr>
              <a:t>Shapes are irregular and outliers matter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04635" y="5058460"/>
            <a:ext cx="54864" cy="44622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CHOOSE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Segmenting a LiDAR point cloud into pedestrians, cars and barriers. Which algorithm, and why?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4.1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Case Study: E-Commerce Customer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3712463"/>
          </a:xfrm>
          <a:prstGeom prst="roundRect">
            <a:avLst>
              <a:gd name="adj" fmla="val 35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data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millions of registered users, each described by Annual Spend, Transaction Frequency and Return Rate. No labels - nobody has told us who the 'valuable' customers are.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method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scale the three features, run K-Means, use the elbow and silhouette to settle on K = 5.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output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five behavioural personas - for example: high-spend loyalists, frequent low-value buyers, occasional big spenders, serial returners, and dormant accounts.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Why it pays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each segment gets a different retention strategy. Serial returners need a policy change, not a discount. Dormant accounts need reactivation, not loyalty rewards.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critical step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the algorithm produced five numbered groups. A HUMAN had to look at the cluster centroids and give them meaning. That interpretation is not automatic.</a:t>
            </a:r>
          </a:p>
          <a:p>
            <a:pPr algn="l">
              <a:lnSpc>
                <a:spcPct val="120000"/>
              </a:lnSpc>
              <a:spcBef>
                <a:spcPts val="890"/>
              </a:spcBef>
              <a:spcAft>
                <a:spcPts val="0"/>
              </a:spcAft>
            </a:pPr>
            <a:r>
              <a:rPr sz="1330" b="1" i="0">
                <a:solidFill>
                  <a:srgbClr val="107C41"/>
                </a:solidFill>
                <a:latin typeface="Segoe UI Semibold"/>
              </a:rPr>
              <a:t>The honest caveat  </a:t>
            </a:r>
            <a:r>
              <a:rPr sz="1330" b="0" i="0">
                <a:solidFill>
                  <a:srgbClr val="1C2330"/>
                </a:solidFill>
                <a:latin typeface="Segoe UI"/>
              </a:rPr>
              <a:t>run it next quarter and the segments will shift. Clustering is a snapshot, not a permanent taxonomy.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REAL-WORLD APPLICATION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most common commercial use of clustering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DISCUSS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The algorithm labels a cluster '3'. Who decides that cluster 3 means 'serial returners', and how would you check they are right?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Quick Check - Section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93268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90"/>
              </a:spcAft>
            </a:pPr>
            <a:r>
              <a:rPr sz="1019" b="1" i="0">
                <a:solidFill>
                  <a:srgbClr val="D97706"/>
                </a:solidFill>
                <a:latin typeface="Segoe UI Semibold"/>
              </a:rPr>
              <a:t>QUICK CHECK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Segoe UI Semibold"/>
              </a:rPr>
              <a:t>Your data forms two concentric rings. You run K-Means with K = 2 and get two half-moon shaped clusters that each cut across both rings. What went wrong?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9326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56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K was set too low - try K =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9992" y="3259835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33728" y="3461003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3496" y="3351275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K-Means assumes convex, roughly spherical clusters, so it cannot represent rings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features were not scaled before clustering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9992" y="4101083"/>
            <a:ext cx="5529056" cy="713232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33728" y="4302251"/>
            <a:ext cx="310896" cy="310896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3496" y="4192523"/>
            <a:ext cx="47609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C2330"/>
                </a:solidFill>
                <a:latin typeface="Segoe UI"/>
              </a:rPr>
              <a:t>The algorithm converged to a local minimum - just re-run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26379"/>
            <a:ext cx="1118612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86476"/>
                </a:solidFill>
                <a:latin typeface="Segoe UI"/>
              </a:rPr>
              <a:t>◆  click to reveal the answer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52059"/>
            <a:ext cx="11186129" cy="960120"/>
          </a:xfrm>
          <a:prstGeom prst="roundRect">
            <a:avLst>
              <a:gd name="adj" fmla="val 6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07C41"/>
                </a:solidFill>
                <a:latin typeface="Segoe UI Semibold"/>
              </a:rPr>
              <a:t>ANSWER: B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This is a structural limitation, not a tuning problem. K-Means assigns each point to its nearest centroid, which always produces convex regions. Rings are not convex, so no value of K, no initialisation and no re-run will recover them. Use DBSCAN, which defines clusters by density and connectivity instead.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52059"/>
            <a:ext cx="77724" cy="96012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Dimensionality
Reduction and
Principal Component
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5C2D91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curse of dimensionality - why more features can hurt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intuition: rotate the axes to where the variance is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PCA in four steps: centre, covariance, eigen-decompose, project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Explained variance ratio and choosing k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What PCA costs you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DIMENSIONALITY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Curse of Dimensionality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FDE9E7"/>
          </a:solidFill>
          <a:ln w="1587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Data becomes sparse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in high dimensions, the volume of the space grows exponentially while your sample size does not. Your data is spread impossibly thin.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Distances stop discriminating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as dimensions increase, the distance to your nearest neighbour and your farthest neighbour converge. 'Nearest' becomes meaningless - which breaks K-NN, K-Means and DBSCAN alike.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Overfitting becomes easier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more features means more parameters, which means more capacity to memorise noise. Straight back to Unit 3's variance problem.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Everything gets slower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computation and memory grow with dimension; visualisation becomes impossible beyond 3.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response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reduce dimensions - either by SELECTING a subset of features (Unit 2) or by PROJECTING onto a smaller space that preserves the information (PCA).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B42318"/>
                </a:solidFill>
                <a:latin typeface="Segoe UI Semibold"/>
              </a:rPr>
              <a:t>The key distinction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feature SELECTION keeps original columns. PCA creates NEW features that are combinations of the originals.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COMMON PITFALL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Why adding features eventually makes everything worse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DIMENSIONALITY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Curse of Dimensionality, Measured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22</a:t>
            </a:r>
          </a:p>
        </p:txBody>
      </p:sp>
      <p:pic>
        <p:nvPicPr>
          <p:cNvPr id="11" name="Picture 10" descr="u4_c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95" y="1792224"/>
            <a:ext cx="6293146" cy="3822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</a:pPr>
            <a:r>
              <a:rPr sz="94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720"/>
              </a:spcBef>
              <a:spcAft>
                <a:spcPts val="0"/>
              </a:spcAft>
            </a:pPr>
            <a:r>
              <a:rPr sz="1120" b="1" i="0">
                <a:solidFill>
                  <a:srgbClr val="182B49"/>
                </a:solidFill>
                <a:latin typeface="Segoe UI Semibold"/>
              </a:rPr>
              <a:t>The measurement  </a:t>
            </a:r>
            <a:r>
              <a:rPr sz="1120" b="0" i="0">
                <a:solidFill>
                  <a:srgbClr val="1C2330"/>
                </a:solidFill>
                <a:latin typeface="Segoe UI"/>
              </a:rPr>
              <a:t>take a point, find its nearest and farthest neighbours, and compare them.</a:t>
            </a:r>
          </a:p>
          <a:p>
            <a:pPr algn="l">
              <a:lnSpc>
                <a:spcPct val="114000"/>
              </a:lnSpc>
              <a:spcBef>
                <a:spcPts val="720"/>
              </a:spcBef>
              <a:spcAft>
                <a:spcPts val="0"/>
              </a:spcAft>
            </a:pPr>
            <a:r>
              <a:rPr sz="1120" b="1" i="0">
                <a:solidFill>
                  <a:srgbClr val="182B49"/>
                </a:solidFill>
                <a:latin typeface="Segoe UI Semibold"/>
              </a:rPr>
              <a:t>Low dimensions  </a:t>
            </a:r>
            <a:r>
              <a:rPr sz="1120" b="0" i="0">
                <a:solidFill>
                  <a:srgbClr val="1C2330"/>
                </a:solidFill>
                <a:latin typeface="Segoe UI"/>
              </a:rPr>
              <a:t>the farthest point is many times farther than the nearest. Real contrast.</a:t>
            </a:r>
          </a:p>
          <a:p>
            <a:pPr algn="l">
              <a:lnSpc>
                <a:spcPct val="114000"/>
              </a:lnSpc>
              <a:spcBef>
                <a:spcPts val="720"/>
              </a:spcBef>
              <a:spcAft>
                <a:spcPts val="0"/>
              </a:spcAft>
            </a:pPr>
            <a:r>
              <a:rPr sz="1120" b="1" i="0">
                <a:solidFill>
                  <a:srgbClr val="182B49"/>
                </a:solidFill>
                <a:latin typeface="Segoe UI Semibold"/>
              </a:rPr>
              <a:t>High dimensions  </a:t>
            </a:r>
            <a:r>
              <a:rPr sz="1120" b="0" i="0">
                <a:solidFill>
                  <a:srgbClr val="1C2330"/>
                </a:solidFill>
                <a:latin typeface="Segoe UI"/>
              </a:rPr>
              <a:t>the ratio collapses towards zero - everything is roughly equally far away.</a:t>
            </a:r>
          </a:p>
          <a:p>
            <a:pPr algn="l">
              <a:lnSpc>
                <a:spcPct val="114000"/>
              </a:lnSpc>
              <a:spcBef>
                <a:spcPts val="720"/>
              </a:spcBef>
              <a:spcAft>
                <a:spcPts val="0"/>
              </a:spcAft>
            </a:pPr>
            <a:r>
              <a:rPr sz="1120" b="1" i="0">
                <a:solidFill>
                  <a:srgbClr val="182B49"/>
                </a:solidFill>
                <a:latin typeface="Segoe UI Semibold"/>
              </a:rPr>
              <a:t>The consequence  </a:t>
            </a:r>
            <a:r>
              <a:rPr sz="1120" b="0" i="0">
                <a:solidFill>
                  <a:srgbClr val="1C2330"/>
                </a:solidFill>
                <a:latin typeface="Segoe UI"/>
              </a:rPr>
              <a:t>'nearest neighbour' stops meaning anything, so distance-based methods lose their grip.</a:t>
            </a:r>
          </a:p>
          <a:p>
            <a:pPr algn="l">
              <a:lnSpc>
                <a:spcPct val="114000"/>
              </a:lnSpc>
              <a:spcBef>
                <a:spcPts val="720"/>
              </a:spcBef>
              <a:spcAft>
                <a:spcPts val="0"/>
              </a:spcAft>
            </a:pPr>
            <a:r>
              <a:rPr sz="1120" b="1" i="0">
                <a:solidFill>
                  <a:srgbClr val="182B49"/>
                </a:solidFill>
                <a:latin typeface="Segoe UI Semibold"/>
              </a:rPr>
              <a:t>Who suffers  </a:t>
            </a:r>
            <a:r>
              <a:rPr sz="1120" b="0" i="0">
                <a:solidFill>
                  <a:srgbClr val="1C2330"/>
                </a:solidFill>
                <a:latin typeface="Segoe UI"/>
              </a:rPr>
              <a:t>K-NN, K-Means, DBSCAN - everything built on distance.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Adding an irrelevant feature is not free - it dilutes every distance you compute.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PRINCIPAL COMPONENT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PCA - The Four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Find the directions along which the data varies most, and keep only those.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7702265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STEP 1-2 · CENTRE THE DATA, THEN COMPUTE THE COVARIANCE MATRIX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B49"/>
                </a:solidFill>
                <a:latin typeface="Cambria Math"/>
              </a:rPr>
              <a:t>X_c = X − μ         Σ = (1/(n−1)) · X_cᵀ X_c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3663695"/>
            <a:ext cx="7702265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STEP 3 · SOLVE THE EIGENVALUE PROBLEM - EIGENVECTORS ARE THE NEW AXES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B49"/>
                </a:solidFill>
                <a:latin typeface="Cambria Math"/>
              </a:rPr>
              <a:t>Σ vᵢ = λᵢ vᵢ        with  λ₁ ≥ λ₂ ≥ … ≥ λₚ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63695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5077967"/>
            <a:ext cx="7702265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STEP 4 · PROJECT ONTO THE TOP K EIGENVECTORS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B49"/>
                </a:solidFill>
                <a:latin typeface="Cambria Math"/>
              </a:rPr>
              <a:t>X_pca = X_c · W_k         where W_k = [v₁ … v_k]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7967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42929" y="2249424"/>
            <a:ext cx="3246120" cy="40782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940" b="1" i="0">
                <a:solidFill>
                  <a:srgbClr val="0096C7"/>
                </a:solidFill>
                <a:latin typeface="Segoe UI Semibold"/>
              </a:rPr>
              <a:t>WHAT THE PIECES MEAN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Eigenvector vᵢ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a DIRECTION in feature space - the i-th principal component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Eigenvalue λᵢ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the amount of VARIANCE captured along that direction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Ordering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λ₁ is the largest, so PC1 captures the most variance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Orthogonal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the components are perpendicular, so they are uncorrelated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Centre first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PCA finds variance about the mean - skipping this gives wrong axes</a:t>
            </a:r>
          </a:p>
          <a:p>
            <a:pPr algn="l">
              <a:lnSpc>
                <a:spcPct val="114000"/>
              </a:lnSpc>
              <a:spcBef>
                <a:spcPts val="710"/>
              </a:spcBef>
              <a:spcAft>
                <a:spcPts val="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SCALE FIRST TOO  </a:t>
            </a:r>
            <a:r>
              <a:rPr sz="1110" b="0" i="0">
                <a:solidFill>
                  <a:srgbClr val="1C2330"/>
                </a:solidFill>
                <a:latin typeface="Segoe UI"/>
              </a:rPr>
              <a:t>otherwise the largest-unit feature dominates every component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PRINCIPAL COMPONENT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PCA Actually Finds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24</a:t>
            </a:r>
          </a:p>
        </p:txBody>
      </p:sp>
      <p:pic>
        <p:nvPicPr>
          <p:cNvPr id="11" name="Picture 10" descr="u4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91" y="1792224"/>
            <a:ext cx="5870354" cy="3822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013161" y="1792224"/>
            <a:ext cx="3675887" cy="3822191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HOW TO READ THIS FIGURE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cloud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two correlated features - the points lie along a diagonal.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PC1 (red)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the direction of MAXIMUM variance. The long axis of the cloud.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PC2 (gold)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perpendicular to PC1, and much shorter - little variance left.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The reduction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keep PC1, drop PC2: 2D becomes 1D and you lose very little.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What you lose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interpretability. PC1 is a MIXTURE of your original features, not one of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PCA finds the directions your data actually varies in, and lets you drop the ones it barely uses.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PRINCIPAL COMPONENT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How Many Components Should You Keep?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Keep enough components to retain the information you care about - and no more.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7702265" cy="4078224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EXPLAINED VARIANCE RATIO FOR COMPONENT 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82B49"/>
                </a:solidFill>
                <a:latin typeface="Cambria Math"/>
              </a:rPr>
              <a:t>EVR_i = λᵢ / Σⱼ λⱼ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The fraction of the dataset's total variance captured by component i. The ratios sum to 1 across all components.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4078224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42929" y="2249424"/>
            <a:ext cx="3246120" cy="40782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PRACTICAL RULES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Cumulative threshold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keep the smallest k whose cumulative EVR reaches 90-95%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Scree plot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plot EVR against component number and look for the elbow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For visualisation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k = 2 or 3, so you can actually plot it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In scikit-learn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PCA(n_components=0.95) selects k automatically</a:t>
            </a:r>
          </a:p>
          <a:p>
            <a:pPr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Example reading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PC1 = 0.62, PC2 = 0.24, PC3 = 0.08 → the first two already capture 86% of the variance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4.2 PRINCIPAL COMPONENT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What PCA Gives You - and What It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5455904" cy="37124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Fights the curse of dimensionality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fewer dimensions means denser data and distances that discriminate again.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Removes multicollinearity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the components are orthogonal, therefore uncorrelated by construction. A direct fix for the Unit 3 problem.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Faster training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fewer features means less computation everywhere downstream.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Enables visualisation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reduce to 2 or 3 components and you can finally plot high-dimensional data.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07C41"/>
                </a:solidFill>
                <a:latin typeface="Segoe UI Semibold"/>
              </a:rPr>
              <a:t>Reduces noise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low-variance components are often mostly noise, so discarding them can improve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5455904" cy="3840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860804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Benefits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144" y="1792224"/>
            <a:ext cx="5455904" cy="37124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30352" rIns="164592" bIns="0" rtlCol="0" anchor="t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Interpretability is lost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PC1 = 0.4×age + 0.7×income − 0.2×tenure means nothing to a domain expert. You can no longer say 'income drove this decision'.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Some information is discarded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by design. If you keep 95% of the variance, you have thrown away 5%.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Assumes linearity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PCA finds linear combinations only. Curved structure needs kernel PCA, t-SNE or UMAP.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Variance is not importance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a low-variance feature can still be highly predictive. PCA is unsupervised - it never looks at y.</a:t>
            </a:r>
          </a:p>
          <a:p>
            <a:pPr algn="l"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B42318"/>
                </a:solidFill>
                <a:latin typeface="Segoe UI Semibold"/>
              </a:rPr>
              <a:t>Must scale first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or the largest-unit feature will dominate every component.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144" y="1792224"/>
            <a:ext cx="5455904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6024" y="1860804"/>
            <a:ext cx="5090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Costs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THINK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PCA never looks at the target y. Give a scenario where that is exactly the wrong property to have.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0"/>
            <a:ext cx="12191969" cy="6046927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969" cy="822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6151"/>
            <a:ext cx="12191969" cy="82296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0" b="1" i="0">
                <a:solidFill>
                  <a:srgbClr val="2B4770"/>
                </a:solidFill>
                <a:latin typeface="Segoe UI Semibol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2958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7D35"/>
                </a:solidFill>
                <a:latin typeface="Segoe UI Semibold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22191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Pattern Discovery:
Association Rule
Mining and Apriori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10512"/>
            <a:ext cx="4983480" cy="4069080"/>
          </a:xfrm>
          <a:prstGeom prst="roundRect">
            <a:avLst>
              <a:gd name="adj" fmla="val 4500"/>
            </a:avLst>
          </a:prstGeom>
          <a:solidFill>
            <a:srgbClr val="1F3558"/>
          </a:solidFill>
          <a:ln w="12700">
            <a:solidFill>
              <a:srgbClr val="3A58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IN THIS SECTION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Market basket analysis - the original data mining problem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Support, Confidence and Lift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Why Lift matters more than Confidence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The Apriori property and how it prunes the search</a:t>
            </a:r>
          </a:p>
          <a:p>
            <a:pPr marL="237744" indent="-237744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450" b="0" i="0">
                <a:solidFill>
                  <a:srgbClr val="D6E2F0"/>
                </a:solidFill>
                <a:latin typeface="Segoe UI"/>
              </a:rPr>
              <a:t>Applications in robotics and sensor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ASSOCIATION RULE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Association Rules - The Three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A rule A ⇒ B says: customers who bought A also bought B. These three numbers tell you whether to believe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9424"/>
            <a:ext cx="11186129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SUPPORT - HOW OFTEN THE ITEMSET APPEARS AT ALL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B49"/>
                </a:solidFill>
                <a:latin typeface="Cambria Math"/>
              </a:rPr>
              <a:t>Support(A ⇒ B) = Count(A ∪ B) / N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Filters out rare, statistically unreliable combinations.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9424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3663695"/>
            <a:ext cx="11186129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CONFIDENCE - HOW OFTEN B APPEARS WHEN A DOES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2B49"/>
                </a:solidFill>
                <a:latin typeface="Cambria Math"/>
              </a:rPr>
              <a:t>Confidence(A ⇒ B) = Support(A ∪ B) / Support(A)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This is the conditional probability P(B | 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63695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5077967"/>
            <a:ext cx="11186129" cy="1249679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270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46304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LIFT - HOW MUCH A ACTUALLY IMPROVES THE ODDS OF B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2B49"/>
                </a:solidFill>
                <a:latin typeface="Cambria Math"/>
              </a:rPr>
              <a:t>Lift(A ⇒ B) = Support(A ∪ B) / (Support(A) × Support(B))</a:t>
            </a:r>
          </a:p>
          <a:p>
            <a:pPr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Lift &gt; 1 means positive association. Lift = 1 means independent. Lift &lt; 1 means A discourages 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77967"/>
            <a:ext cx="68580" cy="1249679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ASSOCIATION RULE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Worked Example: Compute Support, Confidence and Lift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3703320" cy="2358420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69"/>
              </a:spcAft>
            </a:pPr>
            <a:r>
              <a:rPr sz="1019" b="1" i="0">
                <a:solidFill>
                  <a:srgbClr val="0096C7"/>
                </a:solidFill>
                <a:latin typeface="Segoe UI Semibold"/>
              </a:rPr>
              <a:t>THE PROBLEM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1,000 supermarket transactions in total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Bread appears in 400 transactions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Butter appears in 300 transactions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Bread AND Butter together appear in 240</a:t>
            </a:r>
          </a:p>
          <a:p>
            <a:pPr marL="237744" indent="-237744" algn="l">
              <a:lnSpc>
                <a:spcPct val="120000"/>
              </a:lnSpc>
              <a:spcBef>
                <a:spcPts val="78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70" b="0" i="0">
                <a:solidFill>
                  <a:srgbClr val="DEE8F4"/>
                </a:solidFill>
                <a:latin typeface="Segoe UI"/>
              </a:rPr>
              <a:t>Evaluate the rule  Bread ⇒ Butter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333524"/>
            <a:ext cx="3703320" cy="1994123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80"/>
              </a:spcAft>
            </a:pPr>
            <a:r>
              <a:rPr sz="760" b="1" i="0">
                <a:solidFill>
                  <a:srgbClr val="D97706"/>
                </a:solidFill>
                <a:latin typeface="Segoe UI Semibold"/>
              </a:rPr>
              <a:t>WHY IT MATTERS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00" b="0" i="0">
                <a:solidFill>
                  <a:srgbClr val="1C2330"/>
                </a:solidFill>
                <a:latin typeface="Segoe UI"/>
              </a:rPr>
              <a:t>Confidence alone can mislead - check Lift before you believe a rule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00" b="0" i="0">
                <a:solidFill>
                  <a:srgbClr val="1C2330"/>
                </a:solidFill>
                <a:latin typeface="Segoe UI"/>
              </a:rPr>
              <a:t>If butter appeared in 900 of 1000 baskets, confidence 0.60 would mean bread buyers buy butter LESS often than average (lift 0.67)</a:t>
            </a:r>
          </a:p>
          <a:p>
            <a:pPr marL="237744" indent="-237744" algn="l">
              <a:lnSpc>
                <a:spcPct val="116000"/>
              </a:lnSpc>
              <a:spcBef>
                <a:spcPts val="43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900" b="0" i="0">
                <a:solidFill>
                  <a:srgbClr val="1C2330"/>
                </a:solidFill>
                <a:latin typeface="Segoe UI"/>
              </a:rPr>
              <a:t>Lift is symmetric: Lift(Bread⇒Butter) = Lift(Butter⇒Bread)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792224"/>
            <a:ext cx="7245065" cy="358444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19456" rIns="219456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 i="0">
                <a:solidFill>
                  <a:srgbClr val="0096C7"/>
                </a:solidFill>
                <a:latin typeface="Segoe UI Semibold"/>
              </a:rPr>
              <a:t>STEP-BY-STEP SOLUTION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1 - Support(Bread)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400 / 1000 = 0.40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2 - Support(Butter)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300 / 1000 = 0.30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3 - Support(Bread ∪ Butter)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240 / 1000 = 0.24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4 - Confidence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0.24 / 0.40 = 0.60  →  60% of bread buyers also buy butter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Step 5 - Lift  </a:t>
            </a:r>
            <a:r>
              <a:rPr sz="1350" b="0" i="0">
                <a:solidFill>
                  <a:srgbClr val="1C2330"/>
                </a:solidFill>
                <a:latin typeface="Cambria Math"/>
              </a:rPr>
              <a:t>0.24 / (0.40 × 0.30) = 0.24 / 0.12 = 2.0</a:t>
            </a:r>
          </a:p>
          <a:p>
            <a:pPr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</a:pPr>
            <a:r>
              <a:rPr sz="1350" b="1" i="0">
                <a:solidFill>
                  <a:srgbClr val="182B49"/>
                </a:solidFill>
                <a:latin typeface="Segoe UI Semibold"/>
              </a:rPr>
              <a:t>Interpretation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Lift = 2.0 means bread buyers are TWICE as likely to buy butter as a random customer. A genuinely useful rule.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5541264"/>
            <a:ext cx="7245065" cy="786384"/>
          </a:xfrm>
          <a:prstGeom prst="roundRect">
            <a:avLst>
              <a:gd name="adj" fmla="val 8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0" rIns="182880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07C41"/>
                </a:solidFill>
                <a:latin typeface="Segoe UI Semibold"/>
              </a:rPr>
              <a:t>ANSWER   </a:t>
            </a:r>
            <a:r>
              <a:rPr sz="1500" b="1" i="0">
                <a:solidFill>
                  <a:srgbClr val="182B49"/>
                </a:solidFill>
                <a:latin typeface="Cambria Math"/>
              </a:rPr>
              <a:t>Support 0.24  ·  Confidence 0.60  ·  Lift 2.0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3" y="5541264"/>
            <a:ext cx="73152" cy="78638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APRIORI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Apriori Algorithm and the Apriori Property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3712463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5875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The problem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with 10,000 products, the number of possible itemsets is 2^10000. You cannot enumerate them, let alone count them.</a:t>
            </a:r>
          </a:p>
          <a:p>
            <a:pPr algn="l">
              <a:lnSpc>
                <a:spcPct val="120000"/>
              </a:lnSpc>
              <a:spcBef>
                <a:spcPts val="76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The Apriori Property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every non-empty subset of a frequent itemset must itself be frequent. Equivalently: if an itemset is INFREQUENT, every superset of it is also infrequent.</a:t>
            </a:r>
          </a:p>
          <a:p>
            <a:pPr algn="l">
              <a:lnSpc>
                <a:spcPct val="120000"/>
              </a:lnSpc>
              <a:spcBef>
                <a:spcPts val="76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Why that helps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the moment {Bread, Caviar} falls below minimum support, you can discard {Bread, Caviar, Milk}, {Bread, Caviar, Eggs} and every other superset without ever counting them.</a:t>
            </a:r>
          </a:p>
          <a:p>
            <a:pPr algn="l">
              <a:lnSpc>
                <a:spcPct val="120000"/>
              </a:lnSpc>
              <a:spcBef>
                <a:spcPts val="76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The algorithm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work level by level. Find frequent 1-itemsets, use them to generate candidate 2-itemsets, count, prune, then generate 3-itemsets from the survivors, and so on.</a:t>
            </a:r>
          </a:p>
          <a:p>
            <a:pPr algn="l">
              <a:lnSpc>
                <a:spcPct val="120000"/>
              </a:lnSpc>
              <a:spcBef>
                <a:spcPts val="76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Then generate rules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from each frequent itemset, form rules and keep those meeting your minimum confidence (and ideally lift &gt; 1).</a:t>
            </a:r>
          </a:p>
          <a:p>
            <a:pPr algn="l">
              <a:lnSpc>
                <a:spcPct val="120000"/>
              </a:lnSpc>
              <a:spcBef>
                <a:spcPts val="760"/>
              </a:spcBef>
              <a:spcAft>
                <a:spcPts val="0"/>
              </a:spcAft>
            </a:pPr>
            <a:r>
              <a:rPr sz="1150" b="1" i="0">
                <a:solidFill>
                  <a:srgbClr val="182B49"/>
                </a:solidFill>
                <a:latin typeface="Segoe UI Semibold"/>
              </a:rPr>
              <a:t>The cost  </a:t>
            </a:r>
            <a:r>
              <a:rPr sz="1150" b="0" i="0">
                <a:solidFill>
                  <a:srgbClr val="1C2330"/>
                </a:solidFill>
                <a:latin typeface="Segoe UI"/>
              </a:rPr>
              <a:t>Apriori scans the database once per level. FP-Growth is a faster modern alternative that avoids repeated scanning.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KEY CONCEPT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How to search a combinatorially enormous space without exploding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596128"/>
            <a:ext cx="11186129" cy="676656"/>
          </a:xfrm>
          <a:prstGeom prst="roundRect">
            <a:avLst>
              <a:gd name="adj" fmla="val 10000"/>
            </a:avLst>
          </a:prstGeom>
          <a:solidFill>
            <a:srgbClr val="FEF3E0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0" rIns="128016" bIns="0" rtlCol="0" anchor="ctr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APPLY IT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{Milk, Bread} appears in only 2% of baskets and your minimum support is 5%. How many itemsets can you eliminate immediately?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596128"/>
            <a:ext cx="68580" cy="67665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4.3 ASSOCIATION RULE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Case Study: Market Basket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4535424"/>
          </a:xfrm>
          <a:prstGeom prst="roundRect">
            <a:avLst>
              <a:gd name="adj" fmla="val 35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603504" rIns="237744" bIns="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The discovered rule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{Diapers} ⇒ {Beer}, with Support = 0.04, Confidence = 0.72 and Lift = 2.8.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Reading it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4% of all baskets contain both; 72% of diaper buyers also bought beer; and diaper buyers are 2.8 times more likely to buy beer than an average shopper.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The proposed explanation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young parents sent out for nappies pick up beer on the same trip. The story is widely retold and its origins are disputed - treat it as an illustration, not a documented case.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The business action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reorganise the store layout to place the two categories near each other, or bundle them in a promotion.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Why lift mattered here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beer is popular anyway. Without checking lift, high confidence alone would not have proved an association exists.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07C41"/>
                </a:solidFill>
                <a:latin typeface="Segoe UI Semibold"/>
              </a:rPr>
              <a:t>Beyond retail  </a:t>
            </a:r>
            <a:r>
              <a:rPr sz="1500" b="0" i="0">
                <a:solidFill>
                  <a:srgbClr val="1C2330"/>
                </a:solidFill>
                <a:latin typeface="Segoe UI"/>
              </a:rPr>
              <a:t>the same technique powers 'customers who bought this also bought', medical symptom co-occurrence, and web clickstream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11186129" cy="420624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883664"/>
            <a:ext cx="1072892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REAL-WORLD APPLICATION   ·   </a:t>
            </a:r>
            <a:r>
              <a:rPr sz="1400" b="1" i="0">
                <a:solidFill>
                  <a:srgbClr val="FFFFFF"/>
                </a:solidFill>
                <a:latin typeface="Segoe UI Semibold"/>
              </a:rPr>
              <a:t>The rule that reorganised supermarket aisles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4.4 APPLICATIONS IN ROBOTICS AND 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Unsupervised Learning in Robotics and Sensor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The syllabus names this explicitly: unsupervised learning applied to robotics and sensor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2645656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60"/>
              </a:spcAft>
            </a:pPr>
            <a:r>
              <a:rPr sz="910" b="1" i="0">
                <a:solidFill>
                  <a:srgbClr val="0096C7"/>
                </a:solidFill>
                <a:latin typeface="Segoe UI Semibold"/>
              </a:rPr>
              <a:t>APPLICATION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40"/>
              </a:spcAft>
            </a:pPr>
            <a:r>
              <a:rPr sz="1360" b="1" i="0">
                <a:solidFill>
                  <a:srgbClr val="182B49"/>
                </a:solidFill>
                <a:latin typeface="Segoe UI Semibold"/>
              </a:rPr>
              <a:t>LiDAR point cloud segmentation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A self-driving car's LiDAR returns hundreds of thousands of 3-D points per sweep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DBSCAN Euclidean clustering groups them into discrete objects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Pedestrians, vehicles, barriers, vegetation</a:t>
            </a:r>
          </a:p>
          <a:p>
            <a:pPr marL="237744" indent="-237744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090" b="0" i="0">
                <a:solidFill>
                  <a:srgbClr val="1C2330"/>
                </a:solidFill>
                <a:latin typeface="Segoe UI"/>
              </a:rPr>
              <a:t>Why DBSCAN: no K known in advance, irregular shapes, and noisy returns get labelled rather than forced into objects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67712"/>
            <a:ext cx="2645656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49744" y="2267712"/>
            <a:ext cx="2645656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97706"/>
                </a:solidFill>
                <a:latin typeface="Segoe UI Semibold"/>
              </a:rPr>
              <a:t>APPLICATION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Sensor anomaly detection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Industrial turbines stream multi-axis vibration telemetry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PCA compresses many correlated sensor channels into a few components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Reconstruct the signal from those components and measure the error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A spike in reconstruction error signals bearing wear - detected without a single labelled 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9744" y="2267712"/>
            <a:ext cx="2645656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96568" y="2267712"/>
            <a:ext cx="2645656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07C41"/>
                </a:solidFill>
                <a:latin typeface="Segoe UI Semibold"/>
              </a:rPr>
              <a:t>APPLICATION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Robot behaviour discovery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Cluster logged sensor-actuator traces to discover recurring situations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Identify operating modes nobody explicitly programmed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107C4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Useful for diagnosing rare failure states in fleets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568" y="2267712"/>
            <a:ext cx="2645656" cy="68580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43393" y="2267712"/>
            <a:ext cx="2645656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C2D91"/>
                </a:solidFill>
                <a:latin typeface="Segoe UI Semibold"/>
              </a:rPr>
              <a:t>APPLICATION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Sensor fusion preprocessing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Robots carry many overlapping, correlated sensors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PCA removes redundancy before the data reaches the controller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Less data to transmit and process, with real-time latency budgets to meet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3393" y="2267712"/>
            <a:ext cx="2645656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ROBOTICS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Clustering a Robot's Own Sensor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272284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E7E9EB"/>
          </a:solidFill>
          <a:ln w="22225">
            <a:solidFill>
              <a:srgbClr val="5864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86476"/>
                </a:solidFill>
                <a:latin typeface="Segoe UI Semibold"/>
              </a:rPr>
              <a:t>A day of logs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millions of rows,
zero labels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69584" y="2944368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35344" y="2272284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DBF0F7"/>
          </a:solidFill>
          <a:ln w="22225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96C7"/>
                </a:solidFill>
                <a:latin typeface="Segoe UI Semibold"/>
              </a:rPr>
              <a:t>Cluster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no target column
exists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02008" y="2944368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67768" y="2272284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DDECE4"/>
          </a:solidFill>
          <a:ln w="2222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7C41"/>
                </a:solidFill>
                <a:latin typeface="Segoe UI Semibold"/>
              </a:rPr>
              <a:t>Operating modes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idle · straight ·
turning · stuck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33" y="2944368"/>
            <a:ext cx="274320" cy="164592"/>
          </a:xfrm>
          <a:prstGeom prst="rightArrow">
            <a:avLst>
              <a:gd name="adj1" fmla="val 45000"/>
              <a:gd name="adj2" fmla="val 4200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00193" y="2272284"/>
            <a:ext cx="1475224" cy="1508760"/>
          </a:xfrm>
          <a:prstGeom prst="roundRect">
            <a:avLst>
              <a:gd name="adj" fmla="val 10000"/>
            </a:avLst>
          </a:prstGeom>
          <a:solidFill>
            <a:srgbClr val="F4E0DE"/>
          </a:solidFill>
          <a:ln w="222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42318"/>
                </a:solidFill>
                <a:latin typeface="Segoe UI Semibold"/>
              </a:rPr>
              <a:t>Points far from all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candidate
FAULTS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37805" y="3799331"/>
            <a:ext cx="0" cy="292608"/>
          </a:xfrm>
          <a:prstGeom prst="line">
            <a:avLst/>
          </a:prstGeom>
          <a:ln w="22225">
            <a:solidFill>
              <a:srgbClr val="ED77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240532" y="4091939"/>
            <a:ext cx="5797273" cy="0"/>
          </a:xfrm>
          <a:prstGeom prst="line">
            <a:avLst/>
          </a:prstGeom>
          <a:ln w="22225">
            <a:solidFill>
              <a:srgbClr val="ED77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40532" y="3799331"/>
            <a:ext cx="0" cy="292608"/>
          </a:xfrm>
          <a:prstGeom prst="line">
            <a:avLst/>
          </a:prstGeom>
          <a:ln w="22225">
            <a:solidFill>
              <a:srgbClr val="ED771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201668"/>
            <a:ext cx="727249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ED771F"/>
                </a:solidFill>
                <a:latin typeface="Segoe UI"/>
              </a:rPr>
              <a:t>new modes appear as the robot meets new environments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3161" y="3995927"/>
            <a:ext cx="3675887" cy="1051560"/>
          </a:xfrm>
          <a:prstGeom prst="roundRect">
            <a:avLst>
              <a:gd name="adj" fmla="val 5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128016" rIns="201168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750" b="1" i="0">
                <a:solidFill>
                  <a:srgbClr val="D97706"/>
                </a:solidFill>
                <a:latin typeface="Segoe UI Semibold"/>
              </a:rPr>
              <a:t>DID YOU KNOW?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C2330"/>
                </a:solidFill>
                <a:latin typeface="Segoe UI"/>
              </a:rPr>
              <a:t>Predictive maintenance often flags a failing industrial robot days before any human notices, from vibration patterns alone - with no examples of that failure ever having been labelled.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13161" y="3995927"/>
            <a:ext cx="6858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13161" y="1792224"/>
            <a:ext cx="3675887" cy="2075687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01168" rIns="182880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</a:pPr>
            <a:r>
              <a:rPr sz="750" b="1" i="0">
                <a:solidFill>
                  <a:srgbClr val="D97706"/>
                </a:solidFill>
                <a:latin typeface="Segoe UI Semibold"/>
              </a:rPr>
              <a:t>HOW TO READ THIS DIAGRAM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Zero labels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nobody annotates a robot's day. There is no target column to predict.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Clusters = behaviour modes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the algorithm discovers idle, driving straight, turning, stuck - unprompted.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Leftovers = faults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a reading unlike any normal mode is a bearing wearing, a wheel slipping, a sensor drifting.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Same output, two readings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exactly the segmentation / anomaly-detection pair from earlier.</a:t>
            </a:r>
          </a:p>
          <a:p>
            <a:pPr algn="l">
              <a:lnSpc>
                <a:spcPct val="114000"/>
              </a:lnSpc>
              <a:spcBef>
                <a:spcPts val="480"/>
              </a:spcBef>
              <a:spcAft>
                <a:spcPts val="0"/>
              </a:spcAft>
            </a:pPr>
            <a:r>
              <a:rPr sz="750" b="1" i="0">
                <a:solidFill>
                  <a:srgbClr val="182B49"/>
                </a:solidFill>
                <a:latin typeface="Segoe UI Semibold"/>
              </a:rPr>
              <a:t>PCA earns its place  </a:t>
            </a:r>
            <a:r>
              <a:rPr sz="750" b="0" i="0">
                <a:solidFill>
                  <a:srgbClr val="1C2330"/>
                </a:solidFill>
                <a:latin typeface="Segoe UI"/>
              </a:rPr>
              <a:t>a robot easily has 200+ sensor channels - far past where distance stops discriminating.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138928"/>
            <a:ext cx="11186129" cy="530352"/>
          </a:xfrm>
          <a:prstGeom prst="roundRect">
            <a:avLst>
              <a:gd name="adj" fmla="val 5000"/>
            </a:avLst>
          </a:prstGeom>
          <a:solidFill>
            <a:srgbClr val="F0EAFA"/>
          </a:solidFill>
          <a:ln w="15875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THINK OF IT LIKE   </a:t>
            </a:r>
            <a:r>
              <a:rPr sz="1250" b="1" i="0">
                <a:solidFill>
                  <a:srgbClr val="182B49"/>
                </a:solidFill>
                <a:latin typeface="Segoe UI Semibold"/>
              </a:rPr>
              <a:t>a mechanic listening to an engine.  </a:t>
            </a:r>
            <a:r>
              <a:rPr sz="1250" b="0" i="0">
                <a:solidFill>
                  <a:srgbClr val="1C2330"/>
                </a:solidFill>
                <a:latin typeface="Segoe UI"/>
              </a:rPr>
              <a:t>they know it sounds wrong long before they know why.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138928"/>
            <a:ext cx="68580" cy="530352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02920" y="5705856"/>
            <a:ext cx="11186129" cy="621792"/>
          </a:xfrm>
          <a:prstGeom prst="roundRect">
            <a:avLst>
              <a:gd name="adj" fmla="val 5000"/>
            </a:avLst>
          </a:prstGeom>
          <a:solidFill>
            <a:srgbClr val="E4F6EB"/>
          </a:solidFill>
          <a:ln w="15875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0" rIns="201168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7C41"/>
                </a:solidFill>
                <a:latin typeface="Segoe UI Semibold"/>
              </a:rPr>
              <a:t>TAKEAWAY   </a:t>
            </a:r>
            <a:r>
              <a:rPr sz="1350" b="1" i="0">
                <a:solidFill>
                  <a:srgbClr val="182B49"/>
                </a:solidFill>
                <a:latin typeface="Segoe UI Semibold"/>
              </a:rPr>
              <a:t>Nobody will ever label 'bearing about to fail'. That is precisely why fault detection has to be unsupervised.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05856"/>
            <a:ext cx="68580" cy="621792"/>
          </a:xfrm>
          <a:prstGeom prst="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CONSOLIDATION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Activity: Pick the Technique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11186129" cy="841248"/>
          </a:xfrm>
          <a:prstGeom prst="roundRect">
            <a:avLst>
              <a:gd name="adj" fmla="val 5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5C2D91"/>
                </a:solidFill>
                <a:latin typeface="Segoe UI Semibold"/>
              </a:rPr>
              <a:t>GROUP WORK   ·   10 minutes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Four unlabelled-data problems. For each: name the technique, justify it, and state how you would judge whether it worked.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77724" cy="8412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10"/>
              </a:spcAft>
            </a:pPr>
            <a:r>
              <a:rPr sz="1230" b="1" i="0">
                <a:solidFill>
                  <a:srgbClr val="182B49"/>
                </a:solidFill>
                <a:latin typeface="Segoe UI Semibold"/>
              </a:rPr>
              <a:t>Problem A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A hospital has 50,000 patient records with 200 lab measurements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Many measurements are strongly correlated</a:t>
            </a:r>
          </a:p>
          <a:p>
            <a:pPr marL="237744" indent="-237744" algn="l">
              <a:lnSpc>
                <a:spcPct val="116000"/>
              </a:lnSpc>
              <a:spcBef>
                <a:spcPts val="44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050" b="0" i="0">
                <a:solidFill>
                  <a:srgbClr val="1C2330"/>
                </a:solidFill>
                <a:latin typeface="Segoe UI"/>
              </a:rPr>
              <a:t>They want to visualise the patient population in 2-D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6028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380" b="1" i="0">
                <a:solidFill>
                  <a:srgbClr val="182B49"/>
                </a:solidFill>
                <a:latin typeface="Segoe UI Semibold"/>
              </a:rPr>
              <a:t>Problem B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An online store has 2 million purchase transactions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They want to know which products are bought together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180" b="0" i="0">
                <a:solidFill>
                  <a:srgbClr val="1C2330"/>
                </a:solidFill>
                <a:latin typeface="Segoe UI"/>
              </a:rPr>
              <a:t>Goal: improve the 'frequently bought together' widget</a:t>
            </a:r>
          </a:p>
        </p:txBody>
      </p:sp>
      <p:sp>
        <p:nvSpPr>
          <p:cNvPr id="16" name="Oval 15"/>
          <p:cNvSpPr/>
          <p:nvPr/>
        </p:nvSpPr>
        <p:spPr>
          <a:xfrm>
            <a:off x="3518908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9136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Problem C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A warehouse robot's camera produces 3-D point clouds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Objects vary in shape and count from frame to frame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00" b="0" i="0">
                <a:solidFill>
                  <a:srgbClr val="1C2330"/>
                </a:solidFill>
                <a:latin typeface="Segoe UI"/>
              </a:rPr>
              <a:t>Sensor noise is significant</a:t>
            </a:r>
          </a:p>
        </p:txBody>
      </p:sp>
      <p:sp>
        <p:nvSpPr>
          <p:cNvPr id="18" name="Oval 17"/>
          <p:cNvSpPr/>
          <p:nvPr/>
        </p:nvSpPr>
        <p:spPr>
          <a:xfrm>
            <a:off x="6352016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2245" y="2816352"/>
            <a:ext cx="2686804" cy="2596896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13232" rIns="164592" bIns="0" rtlCol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60"/>
              </a:spcAft>
            </a:pPr>
            <a:r>
              <a:rPr sz="1110" b="1" i="0">
                <a:solidFill>
                  <a:srgbClr val="182B49"/>
                </a:solidFill>
                <a:latin typeface="Segoe UI Semibold"/>
              </a:rPr>
              <a:t>Problem D</a:t>
            </a:r>
          </a:p>
          <a:p>
            <a:pPr marL="237744" indent="-237744"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50" b="0" i="0">
                <a:solidFill>
                  <a:srgbClr val="1C2330"/>
                </a:solidFill>
                <a:latin typeface="Segoe UI"/>
              </a:rPr>
              <a:t>A telecom company has 5 million subscribers</a:t>
            </a:r>
          </a:p>
          <a:p>
            <a:pPr marL="237744" indent="-237744"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50" b="0" i="0">
                <a:solidFill>
                  <a:srgbClr val="1C2330"/>
                </a:solidFill>
                <a:latin typeface="Segoe UI"/>
              </a:rPr>
              <a:t>They want 4 marketing segments - the team is staffed for exactly 4 campaigns</a:t>
            </a:r>
          </a:p>
          <a:p>
            <a:pPr marL="237744" indent="-237744"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950" b="0" i="0">
                <a:solidFill>
                  <a:srgbClr val="1C2330"/>
                </a:solidFill>
                <a:latin typeface="Segoe UI"/>
              </a:rPr>
              <a:t>Features: usage minutes, data volume, tenure, spend</a:t>
            </a:r>
          </a:p>
        </p:txBody>
      </p:sp>
      <p:sp>
        <p:nvSpPr>
          <p:cNvPr id="20" name="Oval 19"/>
          <p:cNvSpPr/>
          <p:nvPr/>
        </p:nvSpPr>
        <p:spPr>
          <a:xfrm>
            <a:off x="9185125" y="3017520"/>
            <a:ext cx="365760" cy="365760"/>
          </a:xfrm>
          <a:prstGeom prst="ellipse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41264"/>
            <a:ext cx="11186129" cy="786384"/>
          </a:xfrm>
          <a:prstGeom prst="roundRect">
            <a:avLst>
              <a:gd name="adj" fmla="val 7000"/>
            </a:avLst>
          </a:prstGeom>
          <a:solidFill>
            <a:srgbClr val="FEF3E0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DELIVERABLE   </a:t>
            </a:r>
            <a:r>
              <a:rPr sz="1350" b="0" i="0">
                <a:solidFill>
                  <a:srgbClr val="1C2330"/>
                </a:solidFill>
                <a:latin typeface="Segoe UI"/>
              </a:rPr>
              <a:t>One technique per problem, one sentence of justification, and one sentence on how you would evaluate the result without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41264"/>
            <a:ext cx="77724" cy="78638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Common Mistakes to Avoid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Every one of these is a real error students make in this unit - and every one is avoidable.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7129" y="226771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86476"/>
                </a:solidFill>
                <a:latin typeface="Segoe UI Semibold"/>
              </a:rPr>
              <a:t>THE FOUR THAT COST MARKS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560320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9EDEC"/>
          </a:solidFill>
          <a:ln w="1778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48569" y="2816352"/>
            <a:ext cx="402336" cy="27432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057" y="261518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cluster before scaling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3438144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9EDEC"/>
          </a:solidFill>
          <a:ln w="1778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48569" y="3694175"/>
            <a:ext cx="402336" cy="27432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057" y="349300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pick k by minimising inertia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7129" y="4315968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9EDEC"/>
          </a:solidFill>
          <a:ln w="17780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48569" y="4571999"/>
            <a:ext cx="402336" cy="27432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057" y="4370831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believe every cluster is real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57129" y="5193792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BF4EF"/>
          </a:solidFill>
          <a:ln w="17780">
            <a:solidFill>
              <a:srgbClr val="107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848569" y="5449823"/>
            <a:ext cx="402336" cy="274320"/>
          </a:xfrm>
          <a:prstGeom prst="roundRect">
            <a:avLst/>
          </a:prstGeom>
          <a:solidFill>
            <a:srgbClr val="107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4057" y="5248655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name every segment you 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267712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42318"/>
                </a:solidFill>
                <a:latin typeface="Segoe UI Semibold"/>
              </a:rPr>
              <a:t>MISTAKE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Clustering unscaled features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The largest-range column decides every group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Your 'segments' become spending bands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267712"/>
            <a:ext cx="3398504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102592" y="2267712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980" b="1" i="0">
                <a:solidFill>
                  <a:srgbClr val="B42318"/>
                </a:solidFill>
                <a:latin typeface="Segoe UI Semibold"/>
              </a:rPr>
              <a:t>MISTAKE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470" b="1" i="0">
                <a:solidFill>
                  <a:srgbClr val="182B49"/>
                </a:solidFill>
                <a:latin typeface="Segoe UI Semibold"/>
              </a:rPr>
              <a:t>Minimising inertia to choose k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20" b="0" i="0">
                <a:solidFill>
                  <a:srgbClr val="1C2330"/>
                </a:solidFill>
                <a:latin typeface="Segoe UI"/>
              </a:rPr>
              <a:t>It is zero when every point is its own cluster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20" b="0" i="0">
                <a:solidFill>
                  <a:srgbClr val="1C2330"/>
                </a:solidFill>
                <a:latin typeface="Segoe UI"/>
              </a:rPr>
              <a:t>Look for the bend, and cross-check silhouette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02592" y="2267712"/>
            <a:ext cx="3398504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2920" y="4398264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90"/>
              </a:spcAft>
            </a:pPr>
            <a:r>
              <a:rPr sz="980" b="1" i="0">
                <a:solidFill>
                  <a:srgbClr val="B42318"/>
                </a:solidFill>
                <a:latin typeface="Segoe UI Semibold"/>
              </a:rPr>
              <a:t>MISTAKE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90"/>
              </a:spcAft>
            </a:pPr>
            <a:r>
              <a:rPr sz="1470" b="1" i="0">
                <a:solidFill>
                  <a:srgbClr val="182B49"/>
                </a:solidFill>
                <a:latin typeface="Segoe UI Semibold"/>
              </a:rPr>
              <a:t>Assuming clusters are real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20" b="0" i="0">
                <a:solidFill>
                  <a:srgbClr val="1C2330"/>
                </a:solidFill>
                <a:latin typeface="Segoe UI"/>
              </a:rPr>
              <a:t>K-Means returns k groups from pure noise</a:t>
            </a:r>
          </a:p>
          <a:p>
            <a:pPr marL="237744" indent="-237744" algn="l">
              <a:lnSpc>
                <a:spcPct val="116000"/>
              </a:lnSpc>
              <a:spcBef>
                <a:spcPts val="49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20" b="0" i="0">
                <a:solidFill>
                  <a:srgbClr val="1C2330"/>
                </a:solidFill>
                <a:latin typeface="Segoe UI"/>
              </a:rPr>
              <a:t>Compare against a baseline before believing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398264"/>
            <a:ext cx="3398504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102592" y="4398264"/>
            <a:ext cx="3398504" cy="1929384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42318"/>
                </a:solidFill>
                <a:latin typeface="Segoe UI Semibold"/>
              </a:rPr>
              <a:t>MISTAKE 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Reporting a silhouette and stopping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It measures geometry, not meaning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B42318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 segment nobody can name has failed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02592" y="4398264"/>
            <a:ext cx="3398504" cy="685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RESEARCH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Research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92224"/>
            <a:ext cx="1118612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586476"/>
                </a:solidFill>
                <a:latin typeface="Segoe UI"/>
              </a:rPr>
              <a:t>Where this topic is heading - so you know what you are being prepared for.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7129" y="226771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86476"/>
                </a:solidFill>
                <a:latin typeface="Segoe UI Semibold"/>
              </a:rPr>
              <a:t>WHERE THIS IS GOING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7129" y="2560320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EAF6FA"/>
          </a:solidFill>
          <a:ln w="17780">
            <a:solidFill>
              <a:srgbClr val="0096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48569" y="2816352"/>
            <a:ext cx="402336" cy="274320"/>
          </a:xfrm>
          <a:prstGeom prst="round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057" y="2615184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models that label themselves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57129" y="3438144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BF4EB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48569" y="3694175"/>
            <a:ext cx="402336" cy="27432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057" y="3493008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learn features and clusters together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57129" y="4315968"/>
            <a:ext cx="3931920" cy="786384"/>
          </a:xfrm>
          <a:prstGeom prst="roundRect">
            <a:avLst>
              <a:gd name="adj" fmla="val 8000"/>
            </a:avLst>
          </a:prstGeom>
          <a:solidFill>
            <a:srgbClr val="F1EEF6"/>
          </a:solidFill>
          <a:ln w="17780">
            <a:solidFill>
              <a:srgbClr val="5C2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848569" y="4571999"/>
            <a:ext cx="402336" cy="274320"/>
          </a:xfrm>
          <a:prstGeom prst="round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057" y="4370831"/>
            <a:ext cx="32735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330"/>
                </a:solidFill>
                <a:latin typeface="Segoe UI"/>
              </a:rPr>
              <a:t>validation without truth is still open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267712"/>
            <a:ext cx="2198613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096C7"/>
                </a:solidFill>
                <a:latin typeface="Segoe UI Semibold"/>
              </a:rPr>
              <a:t>DIRECTION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Self-supervised learning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Models manufacture their own labels from raw data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How today's foundation models are pretrained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0096C7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Arguably the most important idea in the field now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267712"/>
            <a:ext cx="2198613" cy="68580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902701" y="2267712"/>
            <a:ext cx="2198613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97706"/>
                </a:solidFill>
                <a:latin typeface="Segoe UI Semibold"/>
              </a:rPr>
              <a:t>DIRECTION 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Deep clustering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Learn the representation and the clusters together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Handles images and text, not just tables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D97706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Replaces hand-chosen features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02701" y="2267712"/>
            <a:ext cx="2198613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302483" y="2267712"/>
            <a:ext cx="2198613" cy="4059935"/>
          </a:xfrm>
          <a:prstGeom prst="roundRect">
            <a:avLst>
              <a:gd name="adj" fmla="val 5500"/>
            </a:avLst>
          </a:prstGeom>
          <a:solidFill>
            <a:srgbClr val="F8FAFC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19456" rIns="164592" bIns="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C2D91"/>
                </a:solidFill>
                <a:latin typeface="Segoe UI Semibold"/>
              </a:rPr>
              <a:t>DIRECTION 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82B49"/>
                </a:solidFill>
                <a:latin typeface="Segoe UI Semibold"/>
              </a:rPr>
              <a:t>The evaluation problem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Still no agreed way to validate without ground truth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Stability and null baselines are the current best</a:t>
            </a:r>
          </a:p>
          <a:p>
            <a:pPr marL="237744" indent="-237744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Clr>
                <a:srgbClr val="5C2D91"/>
              </a:buClr>
              <a:buSzPct val="86000"/>
              <a:buFont typeface="Arial"/>
              <a:buChar char="▪"/>
            </a:pPr>
            <a:r>
              <a:rPr sz="1250" b="0" i="0">
                <a:solidFill>
                  <a:srgbClr val="1C2330"/>
                </a:solidFill>
                <a:latin typeface="Segoe UI"/>
              </a:rPr>
              <a:t>Genuinely open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2483" y="2267712"/>
            <a:ext cx="2198613" cy="68580"/>
          </a:xfrm>
          <a:prstGeom prst="rect">
            <a:avLst/>
          </a:prstGeom>
          <a:solidFill>
            <a:srgbClr val="5C2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6384"/>
            <a:ext cx="12191969" cy="804672"/>
          </a:xfrm>
          <a:prstGeom prst="rect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91056"/>
            <a:ext cx="12191969" cy="41148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86384"/>
            <a:ext cx="77724" cy="804672"/>
          </a:xfrm>
          <a:prstGeom prst="rect">
            <a:avLst/>
          </a:prstGeom>
          <a:solidFill>
            <a:srgbClr val="ED7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86968"/>
            <a:ext cx="954020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EC5E2"/>
                </a:solidFill>
                <a:latin typeface="Segoe UI Semibold"/>
              </a:rPr>
              <a:t>UNIT IV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954020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Unit IV - The Six Ideas Worth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8849" y="987552"/>
            <a:ext cx="1600200" cy="402336"/>
          </a:xfrm>
          <a:prstGeom prst="roundRect">
            <a:avLst>
              <a:gd name="adj" fmla="val 30000"/>
            </a:avLst>
          </a:prstGeom>
          <a:solidFill>
            <a:srgbClr val="253E64"/>
          </a:solidFill>
          <a:ln w="9525">
            <a:solidFill>
              <a:srgbClr val="ED7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ACDA5"/>
                </a:solidFill>
                <a:latin typeface="Segoe UI Semibold"/>
              </a:rPr>
              <a:t>UNIT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79"/>
            <a:ext cx="11186129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8686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476"/>
                </a:solidFill>
                <a:latin typeface="Segoe UI"/>
              </a:rPr>
              <a:t>CSE252  ·  Unit 4: Unsupervised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6009" y="6419088"/>
            <a:ext cx="1463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586476"/>
                </a:solidFill>
                <a:latin typeface="Segoe UI"/>
              </a:rPr>
              <a:t>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792224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792224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22376" y="2161032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938528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Unsupervised learning finds structure without labels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86476"/>
                </a:solidFill>
                <a:latin typeface="Segoe UI"/>
              </a:rPr>
              <a:t>No answer key means no accuracy score. You judge results with internal measures and domain knowledge - and a human must supply the meaning.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280" y="1792224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8280" y="1792224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97736" y="2161032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8088" y="1938528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90"/>
              </a:spcAft>
            </a:pPr>
            <a:r>
              <a:rPr sz="1000" b="1" i="0">
                <a:solidFill>
                  <a:srgbClr val="182B49"/>
                </a:solidFill>
                <a:latin typeface="Segoe UI Semibold"/>
              </a:rPr>
              <a:t>K-Means minimises WCSS by alternating assign and update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476"/>
                </a:solidFill>
                <a:latin typeface="Segoe UI"/>
              </a:rPr>
              <a:t>You must choose K in advance - use the elbow and silhouette. It assumes spherical clusters, is sensitive to initialisation, and needs scaled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78480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3078480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2376" y="3447288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3224784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Hierarchical clustering builds a tree, not a partition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86476"/>
                </a:solidFill>
                <a:latin typeface="Segoe UI"/>
              </a:rPr>
              <a:t>No K needed in advance - cut the dendrogram where you like. Ward's linkage is the usual default. Costs about O(n³), so it does not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280" y="3078480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8280" y="3078480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7736" y="3447288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8088" y="3224784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82B49"/>
                </a:solidFill>
                <a:latin typeface="Segoe UI Semibold"/>
              </a:rPr>
              <a:t>DBSCAN clusters by density and names its outliers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86476"/>
                </a:solidFill>
                <a:latin typeface="Segoe UI"/>
              </a:rPr>
              <a:t>Core, border and noise points, controlled by ε and MinPts. Finds arbitrary shapes that K-Means structurally cannot.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64736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364736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22376" y="473354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2728" y="4511040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PCA rotates the axes to where the variance is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86476"/>
                </a:solidFill>
                <a:latin typeface="Segoe UI"/>
              </a:rPr>
              <a:t>Centre, covariance, eigen-decompose, project. Eigenvalues give explained variance; keep enough components for 90-95%. You buy compression and pay in interpretability.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8280" y="4364736"/>
            <a:ext cx="5510768" cy="1121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78280" y="4364736"/>
            <a:ext cx="68580" cy="1121664"/>
          </a:xfrm>
          <a:prstGeom prst="rect">
            <a:avLst/>
          </a:prstGeom>
          <a:solidFill>
            <a:srgbClr val="009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397736" y="4733544"/>
            <a:ext cx="384048" cy="384048"/>
          </a:xfrm>
          <a:prstGeom prst="ellipse">
            <a:avLst/>
          </a:prstGeom>
          <a:solidFill>
            <a:srgbClr val="18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8088" y="4511040"/>
            <a:ext cx="4578080" cy="865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60"/>
              </a:spcAft>
            </a:pPr>
            <a:r>
              <a:rPr sz="1250" b="1" i="0">
                <a:solidFill>
                  <a:srgbClr val="182B49"/>
                </a:solidFill>
                <a:latin typeface="Segoe UI Semibold"/>
              </a:rPr>
              <a:t>Association rules need all three metrics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86476"/>
                </a:solidFill>
                <a:latin typeface="Segoe UI"/>
              </a:rPr>
              <a:t>Support filters rarity, confidence gives P(B|A), and lift tells you whether the association is real. High confidence with lift near 1 means B was just popular.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596128"/>
            <a:ext cx="11186129" cy="731520"/>
          </a:xfrm>
          <a:prstGeom prst="roundRect">
            <a:avLst>
              <a:gd name="adj" fmla="val 7000"/>
            </a:avLst>
          </a:prstGeom>
          <a:solidFill>
            <a:srgbClr val="182B49"/>
          </a:solidFill>
          <a:ln w="12700">
            <a:solidFill>
              <a:srgbClr val="182B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0" rIns="219456" bIns="0" rtlCol="0" anchor="ctr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7706"/>
                </a:solidFill>
                <a:latin typeface="Segoe UI Semibold"/>
              </a:rPr>
              <a:t>NEXT UP   </a:t>
            </a:r>
            <a:r>
              <a:rPr sz="1350" b="0" i="0">
                <a:solidFill>
                  <a:srgbClr val="D6E2F0"/>
                </a:solidFill>
                <a:latin typeface="Segoe UI"/>
              </a:rPr>
              <a:t>Unit V - Model Evaluation and Improvement: regression metrics, the confusion matrix, precision/recall/F1, ROC-AUC, hyperparameter tuning with Grid and Random Search, and Explainable AI.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96128"/>
            <a:ext cx="77724" cy="7315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5898</TotalTime>
  <Words>6369</Words>
  <Application>Microsoft Office PowerPoint</Application>
  <PresentationFormat>Widescreen</PresentationFormat>
  <Paragraphs>698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Cambria Math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CSE252 Unit 4 - Unsupervised Learning</dc:title>
  <dc:subject>Introduction to Artificial Intelligence &amp; Machine Learning</dc:subject>
  <dc:creator>School of Computer Science &amp; Engineering</dc:creator>
  <cp:lastModifiedBy>Piyush Sharma</cp:lastModifiedBy>
  <cp:revision>95</cp:revision>
  <dcterms:created xsi:type="dcterms:W3CDTF">2025-07-15T03:53:59Z</dcterms:created>
  <dcterms:modified xsi:type="dcterms:W3CDTF">2026-10-27T07:44:21Z</dcterms:modified>
</cp:coreProperties>
</file>